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3"/>
  </p:notesMasterIdLst>
  <p:sldIdLst>
    <p:sldId id="256" r:id="rId2"/>
    <p:sldId id="259" r:id="rId3"/>
    <p:sldId id="261" r:id="rId4"/>
    <p:sldId id="262" r:id="rId5"/>
    <p:sldId id="260" r:id="rId6"/>
    <p:sldId id="263" r:id="rId7"/>
    <p:sldId id="264" r:id="rId8"/>
    <p:sldId id="265" r:id="rId9"/>
    <p:sldId id="258"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84382" autoAdjust="0"/>
  </p:normalViewPr>
  <p:slideViewPr>
    <p:cSldViewPr snapToGrid="0">
      <p:cViewPr>
        <p:scale>
          <a:sx n="72" d="100"/>
          <a:sy n="72" d="100"/>
        </p:scale>
        <p:origin x="45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598F8-1C30-4BC9-BD83-DB5676343B91}" type="datetimeFigureOut">
              <a:rPr kumimoji="1" lang="ja-JP" altLang="en-US" smtClean="0"/>
              <a:t>2026/5/22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8C3D8-7A7E-4F1B-A457-093DF1B1F029}" type="slidenum">
              <a:rPr kumimoji="1" lang="ja-JP" altLang="en-US" smtClean="0"/>
              <a:t>‹#›</a:t>
            </a:fld>
            <a:endParaRPr kumimoji="1" lang="ja-JP" altLang="en-US"/>
          </a:p>
        </p:txBody>
      </p:sp>
    </p:spTree>
    <p:extLst>
      <p:ext uri="{BB962C8B-B14F-4D97-AF65-F5344CB8AC3E}">
        <p14:creationId xmlns:p14="http://schemas.microsoft.com/office/powerpoint/2010/main" val="5385685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srgbClr val="DCEDEF"/>
                </a:solidFill>
                <a:latin typeface="Yu Gothic" pitchFamily="34" charset="0"/>
                <a:ea typeface="Yu Gothic" pitchFamily="34" charset="-122"/>
                <a:cs typeface="Yu Gothic" pitchFamily="34" charset="-120"/>
              </a:rPr>
              <a:t>適切な終了条件や明確な設計目標を持たせずに無制限に反復させると、本来の目的である「設計の改善」を果たせないまま、コードのサイズと複雑度をいたずらに増大させてしまう。</a:t>
            </a:r>
            <a:endParaRPr lang="en-US" altLang="ja-JP" sz="1200" dirty="0"/>
          </a:p>
          <a:p>
            <a:endParaRPr kumimoji="1" lang="ja-JP" altLang="en-US" dirty="0"/>
          </a:p>
        </p:txBody>
      </p:sp>
      <p:sp>
        <p:nvSpPr>
          <p:cNvPr id="4" name="スライド番号プレースホルダー 3"/>
          <p:cNvSpPr>
            <a:spLocks noGrp="1"/>
          </p:cNvSpPr>
          <p:nvPr>
            <p:ph type="sldNum" sz="quarter" idx="5"/>
          </p:nvPr>
        </p:nvSpPr>
        <p:spPr/>
        <p:txBody>
          <a:bodyPr/>
          <a:lstStyle/>
          <a:p>
            <a:fld id="{8128C3D8-7A7E-4F1B-A457-093DF1B1F029}" type="slidenum">
              <a:rPr kumimoji="1" lang="ja-JP" altLang="en-US" smtClean="0"/>
              <a:t>10</a:t>
            </a:fld>
            <a:endParaRPr kumimoji="1" lang="ja-JP" altLang="en-US"/>
          </a:p>
        </p:txBody>
      </p:sp>
    </p:spTree>
    <p:extLst>
      <p:ext uri="{BB962C8B-B14F-4D97-AF65-F5344CB8AC3E}">
        <p14:creationId xmlns:p14="http://schemas.microsoft.com/office/powerpoint/2010/main" val="748242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4195643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164570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1131766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3921382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3303285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1382347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255564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2045688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3393319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1166282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1073252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411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C7B57F-047F-4992-A8B3-11F890034D37}" type="slidenum">
              <a:rPr kumimoji="1" lang="ja-JP" altLang="en-US" smtClean="0"/>
              <a:t>‹#›</a:t>
            </a:fld>
            <a:endParaRPr kumimoji="1" lang="ja-JP" altLang="en-US"/>
          </a:p>
        </p:txBody>
      </p:sp>
    </p:spTree>
    <p:extLst>
      <p:ext uri="{BB962C8B-B14F-4D97-AF65-F5344CB8AC3E}">
        <p14:creationId xmlns:p14="http://schemas.microsoft.com/office/powerpoint/2010/main" val="292382894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F42324-215F-1745-A19A-69B41B0DEFAF}"/>
              </a:ext>
            </a:extLst>
          </p:cNvPr>
          <p:cNvSpPr>
            <a:spLocks noGrp="1"/>
          </p:cNvSpPr>
          <p:nvPr>
            <p:ph type="ctrTitle"/>
          </p:nvPr>
        </p:nvSpPr>
        <p:spPr/>
        <p:txBody>
          <a:bodyPr>
            <a:normAutofit/>
          </a:bodyPr>
          <a:lstStyle/>
          <a:p>
            <a:r>
              <a:rPr kumimoji="1" lang="ja-JP" altLang="en-US" sz="5400" dirty="0"/>
              <a:t>インターンシップ報告</a:t>
            </a:r>
          </a:p>
        </p:txBody>
      </p:sp>
      <p:sp>
        <p:nvSpPr>
          <p:cNvPr id="3" name="字幕 2">
            <a:extLst>
              <a:ext uri="{FF2B5EF4-FFF2-40B4-BE49-F238E27FC236}">
                <a16:creationId xmlns:a16="http://schemas.microsoft.com/office/drawing/2014/main" id="{39931CB0-6CCF-C3C4-6FBF-72AF62F743B2}"/>
              </a:ext>
            </a:extLst>
          </p:cNvPr>
          <p:cNvSpPr>
            <a:spLocks noGrp="1"/>
          </p:cNvSpPr>
          <p:nvPr>
            <p:ph type="subTitle" idx="1"/>
          </p:nvPr>
        </p:nvSpPr>
        <p:spPr>
          <a:xfrm>
            <a:off x="2150364" y="3788755"/>
            <a:ext cx="7891272" cy="1632989"/>
          </a:xfrm>
        </p:spPr>
        <p:txBody>
          <a:bodyPr>
            <a:normAutofit fontScale="92500" lnSpcReduction="10000"/>
          </a:bodyPr>
          <a:lstStyle/>
          <a:p>
            <a:r>
              <a:rPr kumimoji="1" lang="ja-JP" altLang="en-US" dirty="0"/>
              <a:t>龍谷大学先端理工学部電子情報通信課程</a:t>
            </a:r>
            <a:endParaRPr kumimoji="1" lang="en-US" altLang="ja-JP" dirty="0"/>
          </a:p>
          <a:p>
            <a:r>
              <a:rPr kumimoji="1" lang="ja-JP" altLang="en-US" dirty="0"/>
              <a:t>荒生　敏岳</a:t>
            </a:r>
            <a:endParaRPr kumimoji="1" lang="en-US" altLang="ja-JP" dirty="0"/>
          </a:p>
          <a:p>
            <a:r>
              <a:rPr lang="en-US" altLang="ja-JP" dirty="0" err="1"/>
              <a:t>Hayataka</a:t>
            </a:r>
            <a:r>
              <a:rPr lang="en-US" altLang="ja-JP" dirty="0"/>
              <a:t> Arao</a:t>
            </a:r>
          </a:p>
          <a:p>
            <a:r>
              <a:rPr kumimoji="1" lang="en-US" altLang="ja-JP" dirty="0"/>
              <a:t>2026</a:t>
            </a:r>
            <a:r>
              <a:rPr kumimoji="1" lang="ja-JP" altLang="en-US" dirty="0"/>
              <a:t>年５月</a:t>
            </a:r>
          </a:p>
        </p:txBody>
      </p:sp>
    </p:spTree>
    <p:extLst>
      <p:ext uri="{BB962C8B-B14F-4D97-AF65-F5344CB8AC3E}">
        <p14:creationId xmlns:p14="http://schemas.microsoft.com/office/powerpoint/2010/main" val="1828294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pPr marL="0" indent="0" algn="l">
              <a:buNone/>
            </a:pPr>
            <a:r>
              <a:rPr lang="en-US" sz="3000" b="1" u="sng" dirty="0">
                <a:solidFill>
                  <a:srgbClr val="1E2A2E"/>
                </a:solidFill>
                <a:latin typeface="Yu Gothic" pitchFamily="34" charset="0"/>
                <a:ea typeface="Yu Gothic" pitchFamily="34" charset="-122"/>
                <a:cs typeface="Yu Gothic" pitchFamily="34" charset="-120"/>
              </a:rPr>
              <a:t>インターンシップで行ったこと</a:t>
            </a:r>
            <a:endParaRPr lang="en-US" sz="3000" u="sng" dirty="0"/>
          </a:p>
        </p:txBody>
      </p:sp>
      <p:sp>
        <p:nvSpPr>
          <p:cNvPr id="4" name="Text 2"/>
          <p:cNvSpPr/>
          <p:nvPr/>
        </p:nvSpPr>
        <p:spPr>
          <a:xfrm>
            <a:off x="685800" y="1691640"/>
            <a:ext cx="10820095" cy="365760"/>
          </a:xfrm>
          <a:prstGeom prst="rect">
            <a:avLst/>
          </a:prstGeom>
          <a:noFill/>
          <a:ln/>
        </p:spPr>
        <p:txBody>
          <a:bodyPr wrap="square" lIns="0" tIns="0" rIns="0" bIns="0" rtlCol="0" anchor="ctr"/>
          <a:lstStyle/>
          <a:p>
            <a:pPr marL="0" indent="0">
              <a:buNone/>
            </a:pPr>
            <a:r>
              <a:rPr lang="en-US" sz="1500" dirty="0" err="1">
                <a:latin typeface="Yu Gothic" pitchFamily="34" charset="0"/>
                <a:ea typeface="Yu Gothic" pitchFamily="34" charset="-122"/>
                <a:cs typeface="Yu Gothic" pitchFamily="34" charset="-120"/>
              </a:rPr>
              <a:t>研究室での期間中</a:t>
            </a:r>
            <a:r>
              <a:rPr lang="ja-JP" altLang="en-US" sz="1500" dirty="0">
                <a:latin typeface="Yu Gothic" pitchFamily="34" charset="0"/>
                <a:ea typeface="Yu Gothic" pitchFamily="34" charset="-122"/>
                <a:cs typeface="Yu Gothic" pitchFamily="34" charset="-120"/>
              </a:rPr>
              <a:t>，</a:t>
            </a:r>
            <a:r>
              <a:rPr lang="en-US" sz="1500" dirty="0" err="1">
                <a:latin typeface="Yu Gothic" pitchFamily="34" charset="0"/>
                <a:ea typeface="Yu Gothic" pitchFamily="34" charset="-122"/>
                <a:cs typeface="Yu Gothic" pitchFamily="34" charset="-120"/>
              </a:rPr>
              <a:t>大きく</a:t>
            </a:r>
            <a:r>
              <a:rPr lang="en-US" sz="1500" dirty="0">
                <a:latin typeface="Yu Gothic" pitchFamily="34" charset="0"/>
                <a:ea typeface="Yu Gothic" pitchFamily="34" charset="-122"/>
                <a:cs typeface="Yu Gothic" pitchFamily="34" charset="-120"/>
              </a:rPr>
              <a:t> 2 </a:t>
            </a:r>
            <a:r>
              <a:rPr lang="en-US" sz="1500" dirty="0" err="1">
                <a:latin typeface="Yu Gothic" pitchFamily="34" charset="0"/>
                <a:ea typeface="Yu Gothic" pitchFamily="34" charset="-122"/>
                <a:cs typeface="Yu Gothic" pitchFamily="34" charset="-120"/>
              </a:rPr>
              <a:t>つのテーマに取り組みました</a:t>
            </a:r>
            <a:endParaRPr lang="en-US" sz="1500" dirty="0"/>
          </a:p>
        </p:txBody>
      </p:sp>
      <p:sp>
        <p:nvSpPr>
          <p:cNvPr id="5" name="Shape 3"/>
          <p:cNvSpPr/>
          <p:nvPr/>
        </p:nvSpPr>
        <p:spPr>
          <a:xfrm>
            <a:off x="685800" y="2331720"/>
            <a:ext cx="5120640" cy="3383280"/>
          </a:xfrm>
          <a:prstGeom prst="rect">
            <a:avLst/>
          </a:prstGeom>
          <a:solidFill>
            <a:schemeClr val="accent3">
              <a:lumMod val="20000"/>
              <a:lumOff val="80000"/>
            </a:schemeClr>
          </a:solidFill>
          <a:ln w="12700">
            <a:noFill/>
            <a:prstDash val="solid"/>
          </a:ln>
          <a:effectLst>
            <a:outerShdw blurRad="114300" dist="38100" dir="5400000" algn="bl" rotWithShape="0">
              <a:srgbClr val="0E4C54">
                <a:alpha val="14000"/>
              </a:srgbClr>
            </a:outerShdw>
          </a:effectLst>
        </p:spPr>
        <p:txBody>
          <a:bodyPr/>
          <a:lstStyle/>
          <a:p>
            <a:endParaRPr lang="ja-JP" altLang="en-US" dirty="0"/>
          </a:p>
        </p:txBody>
      </p:sp>
      <p:sp>
        <p:nvSpPr>
          <p:cNvPr id="9" name="Text 6"/>
          <p:cNvSpPr/>
          <p:nvPr/>
        </p:nvSpPr>
        <p:spPr>
          <a:xfrm>
            <a:off x="1097280" y="3657600"/>
            <a:ext cx="4297680" cy="914400"/>
          </a:xfrm>
          <a:prstGeom prst="rect">
            <a:avLst/>
          </a:prstGeom>
          <a:noFill/>
          <a:ln/>
        </p:spPr>
        <p:txBody>
          <a:bodyPr wrap="square" lIns="0" tIns="0" rIns="0" bIns="0" rtlCol="0" anchor="ctr"/>
          <a:lstStyle/>
          <a:p>
            <a:pPr marL="0" indent="0">
              <a:lnSpc>
                <a:spcPct val="105000"/>
              </a:lnSpc>
              <a:buNone/>
            </a:pPr>
            <a:r>
              <a:rPr lang="en-US" sz="2000" b="1" dirty="0">
                <a:solidFill>
                  <a:srgbClr val="1E2A2E"/>
                </a:solidFill>
                <a:latin typeface="Yu Gothic" pitchFamily="34" charset="0"/>
                <a:ea typeface="Yu Gothic" pitchFamily="34" charset="-122"/>
                <a:cs typeface="Yu Gothic" pitchFamily="34" charset="-120"/>
              </a:rPr>
              <a:t>GitHub と</a:t>
            </a:r>
            <a:endParaRPr lang="en-US" sz="2000" dirty="0"/>
          </a:p>
          <a:p>
            <a:pPr marL="0" indent="0">
              <a:lnSpc>
                <a:spcPct val="105000"/>
              </a:lnSpc>
              <a:buNone/>
            </a:pPr>
            <a:r>
              <a:rPr lang="en-US" sz="2000" b="1" dirty="0">
                <a:solidFill>
                  <a:srgbClr val="1E2A2E"/>
                </a:solidFill>
                <a:latin typeface="Yu Gothic" pitchFamily="34" charset="0"/>
                <a:ea typeface="Yu Gothic" pitchFamily="34" charset="-122"/>
                <a:cs typeface="Yu Gothic" pitchFamily="34" charset="-120"/>
              </a:rPr>
              <a:t>ソフトウェア工学の基礎</a:t>
            </a:r>
            <a:endParaRPr lang="en-US" sz="2000" dirty="0"/>
          </a:p>
        </p:txBody>
      </p:sp>
      <p:sp>
        <p:nvSpPr>
          <p:cNvPr id="10" name="Text 7"/>
          <p:cNvSpPr/>
          <p:nvPr/>
        </p:nvSpPr>
        <p:spPr>
          <a:xfrm>
            <a:off x="1097280" y="4617720"/>
            <a:ext cx="4297680" cy="960120"/>
          </a:xfrm>
          <a:prstGeom prst="rect">
            <a:avLst/>
          </a:prstGeom>
          <a:noFill/>
          <a:ln/>
        </p:spPr>
        <p:txBody>
          <a:bodyPr wrap="square" lIns="0" tIns="0" rIns="0" bIns="0" rtlCol="0" anchor="ctr"/>
          <a:lstStyle/>
          <a:p>
            <a:pPr marL="0" indent="0">
              <a:lnSpc>
                <a:spcPct val="118000"/>
              </a:lnSpc>
              <a:buNone/>
            </a:pPr>
            <a:r>
              <a:rPr lang="en-US" sz="1400" dirty="0" err="1">
                <a:latin typeface="Yu Gothic" pitchFamily="34" charset="0"/>
                <a:ea typeface="Yu Gothic" pitchFamily="34" charset="-122"/>
                <a:cs typeface="Yu Gothic" pitchFamily="34" charset="-120"/>
              </a:rPr>
              <a:t>バージョン管理や開発フローを実際に触り</a:t>
            </a:r>
            <a:r>
              <a:rPr lang="ja-JP" altLang="en-US" sz="1400" dirty="0">
                <a:latin typeface="Yu Gothic" pitchFamily="34" charset="0"/>
                <a:ea typeface="Yu Gothic" pitchFamily="34" charset="-122"/>
                <a:cs typeface="Yu Gothic" pitchFamily="34" charset="-120"/>
              </a:rPr>
              <a:t>，</a:t>
            </a:r>
            <a:r>
              <a:rPr lang="en-US" sz="1400" dirty="0" err="1">
                <a:latin typeface="Yu Gothic" pitchFamily="34" charset="0"/>
                <a:ea typeface="Yu Gothic" pitchFamily="34" charset="-122"/>
                <a:cs typeface="Yu Gothic" pitchFamily="34" charset="-120"/>
              </a:rPr>
              <a:t>コード品質・リファクタリングといった基礎概念を学習</a:t>
            </a:r>
            <a:endParaRPr lang="en-US" sz="1400" dirty="0"/>
          </a:p>
        </p:txBody>
      </p:sp>
      <p:sp>
        <p:nvSpPr>
          <p:cNvPr id="11" name="Shape 8"/>
          <p:cNvSpPr/>
          <p:nvPr/>
        </p:nvSpPr>
        <p:spPr>
          <a:xfrm>
            <a:off x="6309360" y="2331720"/>
            <a:ext cx="5120640" cy="3383280"/>
          </a:xfrm>
          <a:prstGeom prst="rect">
            <a:avLst/>
          </a:prstGeom>
          <a:solidFill>
            <a:schemeClr val="accent3">
              <a:lumMod val="20000"/>
              <a:lumOff val="80000"/>
            </a:schemeClr>
          </a:solidFill>
          <a:ln w="12700">
            <a:noFill/>
            <a:prstDash val="solid"/>
          </a:ln>
          <a:effectLst>
            <a:outerShdw blurRad="114300" dist="38100" dir="5400000" algn="bl" rotWithShape="0">
              <a:srgbClr val="0E4C54">
                <a:alpha val="14000"/>
              </a:srgbClr>
            </a:outerShdw>
          </a:effectLst>
        </p:spPr>
      </p:sp>
      <p:pic>
        <p:nvPicPr>
          <p:cNvPr id="13" name="Image 1" descr="preencoded.png"/>
          <p:cNvPicPr>
            <a:picLocks noChangeAspect="1"/>
          </p:cNvPicPr>
          <p:nvPr/>
        </p:nvPicPr>
        <p:blipFill>
          <a:blip r:embed="rId3"/>
          <a:stretch>
            <a:fillRect/>
          </a:stretch>
        </p:blipFill>
        <p:spPr>
          <a:xfrm>
            <a:off x="6720840" y="2743200"/>
            <a:ext cx="640080" cy="640080"/>
          </a:xfrm>
          <a:prstGeom prst="rect">
            <a:avLst/>
          </a:prstGeom>
        </p:spPr>
      </p:pic>
      <p:sp>
        <p:nvSpPr>
          <p:cNvPr id="15" name="Text 11"/>
          <p:cNvSpPr/>
          <p:nvPr/>
        </p:nvSpPr>
        <p:spPr>
          <a:xfrm>
            <a:off x="6720840" y="3657600"/>
            <a:ext cx="4297680" cy="914400"/>
          </a:xfrm>
          <a:prstGeom prst="rect">
            <a:avLst/>
          </a:prstGeom>
          <a:noFill/>
          <a:ln/>
        </p:spPr>
        <p:txBody>
          <a:bodyPr wrap="square" lIns="0" tIns="0" rIns="0" bIns="0" rtlCol="0" anchor="ctr"/>
          <a:lstStyle/>
          <a:p>
            <a:pPr marL="0" indent="0">
              <a:lnSpc>
                <a:spcPct val="105000"/>
              </a:lnSpc>
              <a:buNone/>
            </a:pPr>
            <a:r>
              <a:rPr lang="en-US" sz="2000" b="1" dirty="0">
                <a:solidFill>
                  <a:srgbClr val="1E2A2E"/>
                </a:solidFill>
                <a:latin typeface="Yu Gothic" pitchFamily="34" charset="0"/>
                <a:ea typeface="Yu Gothic" pitchFamily="34" charset="-122"/>
                <a:cs typeface="Yu Gothic" pitchFamily="34" charset="-120"/>
              </a:rPr>
              <a:t>AIによる反復リファクタリングの</a:t>
            </a:r>
            <a:endParaRPr lang="en-US" sz="2000" dirty="0"/>
          </a:p>
          <a:p>
            <a:pPr marL="0" indent="0">
              <a:lnSpc>
                <a:spcPct val="105000"/>
              </a:lnSpc>
              <a:buNone/>
            </a:pPr>
            <a:r>
              <a:rPr lang="en-US" sz="2000" b="1" dirty="0">
                <a:solidFill>
                  <a:srgbClr val="1E2A2E"/>
                </a:solidFill>
                <a:latin typeface="Yu Gothic" pitchFamily="34" charset="0"/>
                <a:ea typeface="Yu Gothic" pitchFamily="34" charset="-122"/>
                <a:cs typeface="Yu Gothic" pitchFamily="34" charset="-120"/>
              </a:rPr>
              <a:t>品質検証</a:t>
            </a:r>
            <a:endParaRPr lang="en-US" sz="2000" dirty="0"/>
          </a:p>
        </p:txBody>
      </p:sp>
      <p:sp>
        <p:nvSpPr>
          <p:cNvPr id="16" name="Text 12"/>
          <p:cNvSpPr/>
          <p:nvPr/>
        </p:nvSpPr>
        <p:spPr>
          <a:xfrm>
            <a:off x="6720840" y="4617720"/>
            <a:ext cx="4297680" cy="960120"/>
          </a:xfrm>
          <a:prstGeom prst="rect">
            <a:avLst/>
          </a:prstGeom>
          <a:noFill/>
          <a:ln/>
        </p:spPr>
        <p:txBody>
          <a:bodyPr wrap="square" lIns="0" tIns="0" rIns="0" bIns="0" rtlCol="0" anchor="ctr"/>
          <a:lstStyle/>
          <a:p>
            <a:pPr marL="0" indent="0">
              <a:lnSpc>
                <a:spcPct val="118000"/>
              </a:lnSpc>
              <a:buNone/>
            </a:pPr>
            <a:r>
              <a:rPr lang="en-US" sz="1400" dirty="0" err="1">
                <a:solidFill>
                  <a:sysClr val="windowText" lastClr="000000"/>
                </a:solidFill>
                <a:latin typeface="Yu Gothic" pitchFamily="34" charset="0"/>
                <a:ea typeface="Yu Gothic" pitchFamily="34" charset="-122"/>
                <a:cs typeface="Yu Gothic" pitchFamily="34" charset="-120"/>
              </a:rPr>
              <a:t>与えられたテーマに沿って</a:t>
            </a:r>
            <a:r>
              <a:rPr lang="ja-JP" altLang="en-US" sz="1400" dirty="0">
                <a:solidFill>
                  <a:sysClr val="windowText" lastClr="000000"/>
                </a:solidFill>
                <a:latin typeface="Yu Gothic" pitchFamily="34" charset="0"/>
                <a:ea typeface="Yu Gothic" pitchFamily="34" charset="-122"/>
                <a:cs typeface="Yu Gothic" pitchFamily="34" charset="-120"/>
              </a:rPr>
              <a:t>，</a:t>
            </a:r>
            <a:r>
              <a:rPr lang="en-US" sz="1400" dirty="0">
                <a:solidFill>
                  <a:sysClr val="windowText" lastClr="000000"/>
                </a:solidFill>
                <a:latin typeface="Yu Gothic" pitchFamily="34" charset="0"/>
                <a:ea typeface="Yu Gothic" pitchFamily="34" charset="-122"/>
                <a:cs typeface="Yu Gothic" pitchFamily="34" charset="-120"/>
              </a:rPr>
              <a:t>Claude </a:t>
            </a:r>
            <a:r>
              <a:rPr lang="en-US" sz="1400" dirty="0" err="1">
                <a:solidFill>
                  <a:sysClr val="windowText" lastClr="000000"/>
                </a:solidFill>
                <a:latin typeface="Yu Gothic" pitchFamily="34" charset="0"/>
                <a:ea typeface="Yu Gothic" pitchFamily="34" charset="-122"/>
                <a:cs typeface="Yu Gothic" pitchFamily="34" charset="-120"/>
              </a:rPr>
              <a:t>を用いた反復的リファクタリングのソフトウェア品質への影響を検証</a:t>
            </a:r>
            <a:endParaRPr lang="en-US" sz="1400" dirty="0">
              <a:solidFill>
                <a:sysClr val="windowText" lastClr="000000"/>
              </a:solidFill>
            </a:endParaRPr>
          </a:p>
        </p:txBody>
      </p:sp>
      <p:pic>
        <p:nvPicPr>
          <p:cNvPr id="17" name="Image 0" descr="preencoded.png">
            <a:extLst>
              <a:ext uri="{FF2B5EF4-FFF2-40B4-BE49-F238E27FC236}">
                <a16:creationId xmlns:a16="http://schemas.microsoft.com/office/drawing/2014/main" id="{C07BA6F0-49C1-4F2C-6A4A-E2A9647154C0}"/>
              </a:ext>
            </a:extLst>
          </p:cNvPr>
          <p:cNvPicPr>
            <a:picLocks noChangeAspect="1"/>
          </p:cNvPicPr>
          <p:nvPr/>
        </p:nvPicPr>
        <p:blipFill>
          <a:blip r:embed="rId4"/>
          <a:stretch>
            <a:fillRect/>
          </a:stretch>
        </p:blipFill>
        <p:spPr>
          <a:xfrm>
            <a:off x="824807" y="2515985"/>
            <a:ext cx="1004455" cy="10044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pPr marL="0" indent="0" algn="l">
              <a:buNone/>
            </a:pPr>
            <a:r>
              <a:rPr lang="en-US" sz="3000" b="1" u="sng" dirty="0">
                <a:solidFill>
                  <a:srgbClr val="1E2A2E"/>
                </a:solidFill>
                <a:latin typeface="Yu Gothic" pitchFamily="34" charset="0"/>
                <a:ea typeface="Yu Gothic" pitchFamily="34" charset="-122"/>
                <a:cs typeface="Yu Gothic" pitchFamily="34" charset="-120"/>
              </a:rPr>
              <a:t>GitHub とソフトウェア工学の基礎</a:t>
            </a:r>
            <a:endParaRPr lang="en-US" sz="3000" u="sng" dirty="0"/>
          </a:p>
        </p:txBody>
      </p:sp>
      <p:sp>
        <p:nvSpPr>
          <p:cNvPr id="5" name="Shape 2"/>
          <p:cNvSpPr/>
          <p:nvPr/>
        </p:nvSpPr>
        <p:spPr>
          <a:xfrm>
            <a:off x="685800" y="2029692"/>
            <a:ext cx="201168" cy="201168"/>
          </a:xfrm>
          <a:prstGeom prst="ellipse">
            <a:avLst/>
          </a:prstGeom>
          <a:solidFill>
            <a:schemeClr val="tx1"/>
          </a:solidFill>
          <a:ln/>
        </p:spPr>
      </p:sp>
      <p:sp>
        <p:nvSpPr>
          <p:cNvPr id="6" name="Text 3"/>
          <p:cNvSpPr/>
          <p:nvPr/>
        </p:nvSpPr>
        <p:spPr>
          <a:xfrm>
            <a:off x="1097280" y="1938528"/>
            <a:ext cx="5669280" cy="411480"/>
          </a:xfrm>
          <a:prstGeom prst="rect">
            <a:avLst/>
          </a:prstGeom>
          <a:noFill/>
          <a:ln/>
        </p:spPr>
        <p:txBody>
          <a:bodyPr wrap="square" lIns="0" tIns="0" rIns="0" bIns="0" rtlCol="0" anchor="ctr"/>
          <a:lstStyle/>
          <a:p>
            <a:pPr marL="0" indent="0">
              <a:buNone/>
            </a:pPr>
            <a:r>
              <a:rPr lang="en-US" sz="1900" b="1" dirty="0">
                <a:solidFill>
                  <a:srgbClr val="1E2A2E"/>
                </a:solidFill>
                <a:latin typeface="Yu Gothic" pitchFamily="34" charset="0"/>
                <a:ea typeface="Yu Gothic" pitchFamily="34" charset="-122"/>
                <a:cs typeface="Yu Gothic" pitchFamily="34" charset="-120"/>
              </a:rPr>
              <a:t>Git / GitHub の操作</a:t>
            </a:r>
            <a:endParaRPr lang="en-US" sz="1900" dirty="0"/>
          </a:p>
        </p:txBody>
      </p:sp>
      <p:sp>
        <p:nvSpPr>
          <p:cNvPr id="7" name="Text 4"/>
          <p:cNvSpPr/>
          <p:nvPr/>
        </p:nvSpPr>
        <p:spPr>
          <a:xfrm>
            <a:off x="1097280" y="2395728"/>
            <a:ext cx="5669280" cy="777240"/>
          </a:xfrm>
          <a:prstGeom prst="rect">
            <a:avLst/>
          </a:prstGeom>
          <a:noFill/>
          <a:ln/>
        </p:spPr>
        <p:txBody>
          <a:bodyPr wrap="square" lIns="0" tIns="0" rIns="0" bIns="0" rtlCol="0" anchor="ctr"/>
          <a:lstStyle/>
          <a:p>
            <a:pPr marL="0" indent="0">
              <a:lnSpc>
                <a:spcPct val="118000"/>
              </a:lnSpc>
              <a:buNone/>
            </a:pPr>
            <a:r>
              <a:rPr lang="en-US" dirty="0" err="1">
                <a:latin typeface="Yu Gothic" pitchFamily="34" charset="0"/>
                <a:ea typeface="Yu Gothic" pitchFamily="34" charset="-122"/>
                <a:cs typeface="Yu Gothic" pitchFamily="34" charset="-120"/>
              </a:rPr>
              <a:t>コミット・ブランチ・プルリクエストなど,共同開発の基本ワークフローを実際に体験</a:t>
            </a:r>
            <a:endParaRPr lang="en-US" dirty="0"/>
          </a:p>
        </p:txBody>
      </p:sp>
      <p:sp>
        <p:nvSpPr>
          <p:cNvPr id="8" name="Shape 5"/>
          <p:cNvSpPr/>
          <p:nvPr/>
        </p:nvSpPr>
        <p:spPr>
          <a:xfrm>
            <a:off x="685800" y="3461004"/>
            <a:ext cx="201168" cy="201168"/>
          </a:xfrm>
          <a:prstGeom prst="ellipse">
            <a:avLst/>
          </a:prstGeom>
          <a:solidFill>
            <a:schemeClr val="tx1"/>
          </a:solidFill>
          <a:ln/>
        </p:spPr>
      </p:sp>
      <p:sp>
        <p:nvSpPr>
          <p:cNvPr id="9" name="Text 6"/>
          <p:cNvSpPr/>
          <p:nvPr/>
        </p:nvSpPr>
        <p:spPr>
          <a:xfrm>
            <a:off x="1097280" y="3355848"/>
            <a:ext cx="5669280" cy="411480"/>
          </a:xfrm>
          <a:prstGeom prst="rect">
            <a:avLst/>
          </a:prstGeom>
          <a:noFill/>
          <a:ln/>
        </p:spPr>
        <p:txBody>
          <a:bodyPr wrap="square" lIns="0" tIns="0" rIns="0" bIns="0" rtlCol="0" anchor="ctr"/>
          <a:lstStyle/>
          <a:p>
            <a:pPr marL="0" indent="0">
              <a:buNone/>
            </a:pPr>
            <a:r>
              <a:rPr lang="en-US" sz="1900" b="1" dirty="0">
                <a:solidFill>
                  <a:srgbClr val="1E2A2E"/>
                </a:solidFill>
                <a:latin typeface="Yu Gothic" pitchFamily="34" charset="0"/>
                <a:ea typeface="Yu Gothic" pitchFamily="34" charset="-122"/>
                <a:cs typeface="Yu Gothic" pitchFamily="34" charset="-120"/>
              </a:rPr>
              <a:t>ソフトウェア工学の基礎</a:t>
            </a:r>
            <a:endParaRPr lang="en-US" sz="1900" dirty="0"/>
          </a:p>
        </p:txBody>
      </p:sp>
      <p:sp>
        <p:nvSpPr>
          <p:cNvPr id="10" name="Text 7"/>
          <p:cNvSpPr/>
          <p:nvPr/>
        </p:nvSpPr>
        <p:spPr>
          <a:xfrm>
            <a:off x="1097280" y="3813048"/>
            <a:ext cx="5669280" cy="777240"/>
          </a:xfrm>
          <a:prstGeom prst="rect">
            <a:avLst/>
          </a:prstGeom>
          <a:noFill/>
          <a:ln/>
        </p:spPr>
        <p:txBody>
          <a:bodyPr wrap="square" lIns="0" tIns="0" rIns="0" bIns="0" rtlCol="0" anchor="ctr"/>
          <a:lstStyle/>
          <a:p>
            <a:pPr marL="0" indent="0">
              <a:lnSpc>
                <a:spcPct val="118000"/>
              </a:lnSpc>
              <a:buNone/>
            </a:pPr>
            <a:r>
              <a:rPr lang="en-US" dirty="0" err="1">
                <a:latin typeface="Yu Gothic" pitchFamily="34" charset="0"/>
                <a:ea typeface="Yu Gothic" pitchFamily="34" charset="-122"/>
                <a:cs typeface="Yu Gothic" pitchFamily="34" charset="-120"/>
              </a:rPr>
              <a:t>コード品質・リファクタリング・テストといった</a:t>
            </a:r>
            <a:r>
              <a:rPr lang="ja-JP" altLang="en-US" dirty="0">
                <a:latin typeface="Yu Gothic" pitchFamily="34" charset="0"/>
                <a:ea typeface="Yu Gothic" pitchFamily="34" charset="-122"/>
                <a:cs typeface="Yu Gothic" pitchFamily="34" charset="-120"/>
              </a:rPr>
              <a:t>，</a:t>
            </a:r>
            <a:r>
              <a:rPr lang="en-US" dirty="0" err="1">
                <a:latin typeface="Yu Gothic" pitchFamily="34" charset="0"/>
                <a:ea typeface="Yu Gothic" pitchFamily="34" charset="-122"/>
                <a:cs typeface="Yu Gothic" pitchFamily="34" charset="-120"/>
              </a:rPr>
              <a:t>保守性を支える考え方を学習</a:t>
            </a:r>
            <a:endParaRPr lang="en-US" dirty="0"/>
          </a:p>
        </p:txBody>
      </p:sp>
      <p:sp>
        <p:nvSpPr>
          <p:cNvPr id="12" name="Text 9"/>
          <p:cNvSpPr/>
          <p:nvPr/>
        </p:nvSpPr>
        <p:spPr>
          <a:xfrm>
            <a:off x="7680960" y="2331720"/>
            <a:ext cx="3474720" cy="822960"/>
          </a:xfrm>
          <a:prstGeom prst="rect">
            <a:avLst/>
          </a:prstGeom>
          <a:noFill/>
          <a:ln/>
        </p:spPr>
        <p:txBody>
          <a:bodyPr wrap="square" lIns="0" tIns="0" rIns="0" bIns="0" rtlCol="0" anchor="ctr"/>
          <a:lstStyle/>
          <a:p>
            <a:pPr marL="0" indent="0">
              <a:lnSpc>
                <a:spcPct val="105000"/>
              </a:lnSpc>
              <a:buNone/>
            </a:pPr>
            <a:r>
              <a:rPr lang="en-US" sz="1900" b="1" dirty="0">
                <a:solidFill>
                  <a:srgbClr val="FFFFFF"/>
                </a:solidFill>
                <a:latin typeface="Yu Gothic" pitchFamily="34" charset="0"/>
                <a:ea typeface="Yu Gothic" pitchFamily="34" charset="-122"/>
                <a:cs typeface="Yu Gothic" pitchFamily="34" charset="-120"/>
              </a:rPr>
              <a:t>この基礎が次の検証の土台に</a:t>
            </a:r>
            <a:endParaRPr lang="en-US" sz="1900" dirty="0"/>
          </a:p>
        </p:txBody>
      </p:sp>
      <p:sp>
        <p:nvSpPr>
          <p:cNvPr id="13" name="Text 10"/>
          <p:cNvSpPr/>
          <p:nvPr/>
        </p:nvSpPr>
        <p:spPr>
          <a:xfrm>
            <a:off x="7680960" y="3337560"/>
            <a:ext cx="3520440" cy="1554480"/>
          </a:xfrm>
          <a:prstGeom prst="rect">
            <a:avLst/>
          </a:prstGeom>
          <a:noFill/>
          <a:ln/>
        </p:spPr>
        <p:txBody>
          <a:bodyPr wrap="square" lIns="0" tIns="0" rIns="0" bIns="0" rtlCol="0" anchor="ctr"/>
          <a:lstStyle/>
          <a:p>
            <a:pPr marL="0" indent="0">
              <a:lnSpc>
                <a:spcPct val="125000"/>
              </a:lnSpc>
              <a:buNone/>
            </a:pPr>
            <a:r>
              <a:rPr lang="en-US" sz="1400" dirty="0">
                <a:solidFill>
                  <a:srgbClr val="CFE6E8"/>
                </a:solidFill>
                <a:latin typeface="Yu Gothic" pitchFamily="34" charset="0"/>
                <a:ea typeface="Yu Gothic" pitchFamily="34" charset="-122"/>
                <a:cs typeface="Yu Gothic" pitchFamily="34" charset="-120"/>
              </a:rPr>
              <a:t>コード品質を「測る・改善する」視点を身につけたことで、AIによるリファクタリングの良し悪しを評価できるようになった。</a:t>
            </a:r>
            <a:endParaRPr lang="en-US" sz="1400" dirty="0"/>
          </a:p>
        </p:txBody>
      </p:sp>
      <p:pic>
        <p:nvPicPr>
          <p:cNvPr id="14" name="図 13" descr="The image displays a dashboard with nine workflow runs, each showing different commits and fixes for a project, including updates to a SonarCloud issue and a GitHub token.&#10;&#10;AI 生成コンテンツは誤りを含む可能性があります。">
            <a:extLst>
              <a:ext uri="{FF2B5EF4-FFF2-40B4-BE49-F238E27FC236}">
                <a16:creationId xmlns:a16="http://schemas.microsoft.com/office/drawing/2014/main" id="{CF0CA586-D297-D33B-A37E-DF2CA920DD66}"/>
              </a:ext>
            </a:extLst>
          </p:cNvPr>
          <p:cNvPicPr>
            <a:picLocks noChangeAspect="1"/>
          </p:cNvPicPr>
          <p:nvPr/>
        </p:nvPicPr>
        <p:blipFill>
          <a:blip r:embed="rId3"/>
          <a:stretch>
            <a:fillRect/>
          </a:stretch>
        </p:blipFill>
        <p:spPr>
          <a:xfrm>
            <a:off x="7136011" y="2903866"/>
            <a:ext cx="4610337" cy="2914800"/>
          </a:xfrm>
          <a:prstGeom prst="rect">
            <a:avLst/>
          </a:prstGeom>
          <a:ln>
            <a:solidFill>
              <a:schemeClr val="accent6">
                <a:lumMod val="50000"/>
              </a:schemeClr>
            </a:solidFill>
          </a:ln>
        </p:spPr>
      </p:pic>
      <p:pic>
        <p:nvPicPr>
          <p:cNvPr id="16" name="図 15" descr="The image shows a person holding a phone.&#10;&#10;AI 生成コンテンツは誤りを含む可能性があります。">
            <a:extLst>
              <a:ext uri="{FF2B5EF4-FFF2-40B4-BE49-F238E27FC236}">
                <a16:creationId xmlns:a16="http://schemas.microsoft.com/office/drawing/2014/main" id="{39F88365-05BA-713D-C7B1-52FFE3362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6944" y="610859"/>
            <a:ext cx="1588470" cy="15884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r>
              <a:rPr lang="en-US" altLang="ja-JP" sz="3200" b="1" u="sng" dirty="0" err="1">
                <a:solidFill>
                  <a:srgbClr val="1E2A2E"/>
                </a:solidFill>
                <a:latin typeface="Yu Gothic" pitchFamily="34" charset="0"/>
                <a:ea typeface="Yu Gothic" pitchFamily="34" charset="-122"/>
                <a:cs typeface="Yu Gothic" pitchFamily="34" charset="-120"/>
              </a:rPr>
              <a:t>AIによる反復リファクタリング</a:t>
            </a:r>
            <a:r>
              <a:rPr lang="ja-JP" altLang="en-US" sz="3200" b="1" u="sng" dirty="0">
                <a:solidFill>
                  <a:srgbClr val="1E2A2E"/>
                </a:solidFill>
                <a:latin typeface="Yu Gothic" pitchFamily="34" charset="0"/>
                <a:ea typeface="Yu Gothic" pitchFamily="34" charset="-122"/>
                <a:cs typeface="Yu Gothic" pitchFamily="34" charset="-120"/>
              </a:rPr>
              <a:t>の品質検証</a:t>
            </a:r>
            <a:endParaRPr lang="en-US" sz="3000" u="sng" dirty="0"/>
          </a:p>
        </p:txBody>
      </p:sp>
      <p:sp>
        <p:nvSpPr>
          <p:cNvPr id="5" name="Shape 2"/>
          <p:cNvSpPr/>
          <p:nvPr/>
        </p:nvSpPr>
        <p:spPr>
          <a:xfrm>
            <a:off x="685800" y="1874520"/>
            <a:ext cx="10820095" cy="1051560"/>
          </a:xfrm>
          <a:prstGeom prst="rect">
            <a:avLst/>
          </a:prstGeom>
          <a:solidFill>
            <a:srgbClr val="F2F7F8"/>
          </a:solidFill>
          <a:ln w="12700">
            <a:solidFill>
              <a:srgbClr val="D8E2E4"/>
            </a:solidFill>
            <a:prstDash val="solid"/>
          </a:ln>
        </p:spPr>
      </p:sp>
      <p:sp>
        <p:nvSpPr>
          <p:cNvPr id="7" name="Text 4"/>
          <p:cNvSpPr/>
          <p:nvPr/>
        </p:nvSpPr>
        <p:spPr>
          <a:xfrm>
            <a:off x="1051560" y="2011680"/>
            <a:ext cx="10454335" cy="822960"/>
          </a:xfrm>
          <a:prstGeom prst="rect">
            <a:avLst/>
          </a:prstGeom>
          <a:noFill/>
          <a:ln/>
        </p:spPr>
        <p:txBody>
          <a:bodyPr wrap="square" lIns="0" tIns="0" rIns="0" bIns="0" rtlCol="0" anchor="ctr"/>
          <a:lstStyle/>
          <a:p>
            <a:pPr marL="0" indent="0">
              <a:lnSpc>
                <a:spcPct val="115000"/>
              </a:lnSpc>
              <a:buNone/>
            </a:pPr>
            <a:r>
              <a:rPr lang="ja-JP" altLang="en-US" sz="1300" b="1" dirty="0">
                <a:latin typeface="Yu Gothic" pitchFamily="34" charset="0"/>
                <a:ea typeface="Yu Gothic" pitchFamily="34" charset="-122"/>
                <a:cs typeface="Yu Gothic" pitchFamily="34" charset="-120"/>
              </a:rPr>
              <a:t>検証</a:t>
            </a:r>
            <a:r>
              <a:rPr lang="en-US" sz="1300" b="1" dirty="0">
                <a:solidFill>
                  <a:srgbClr val="117A8B"/>
                </a:solidFill>
                <a:latin typeface="Yu Gothic" pitchFamily="34" charset="0"/>
                <a:ea typeface="Yu Gothic" pitchFamily="34" charset="-122"/>
                <a:cs typeface="Yu Gothic" pitchFamily="34" charset="-120"/>
              </a:rPr>
              <a:t>   </a:t>
            </a:r>
            <a:r>
              <a:rPr lang="en-US" sz="1300" dirty="0">
                <a:solidFill>
                  <a:srgbClr val="000000"/>
                </a:solidFill>
                <a:latin typeface="Yu Gothic" pitchFamily="34" charset="0"/>
                <a:ea typeface="Yu Gothic" pitchFamily="34" charset="-122"/>
                <a:cs typeface="Yu Gothic" pitchFamily="34" charset="-120"/>
              </a:rPr>
              <a:t>
</a:t>
            </a:r>
            <a:endParaRPr lang="en-US" sz="1300" dirty="0"/>
          </a:p>
          <a:p>
            <a:pPr marL="0" indent="0">
              <a:lnSpc>
                <a:spcPct val="115000"/>
              </a:lnSpc>
              <a:buNone/>
            </a:pPr>
            <a:r>
              <a:rPr lang="en-US" sz="1500" b="1" dirty="0" err="1">
                <a:solidFill>
                  <a:srgbClr val="1E2A2E"/>
                </a:solidFill>
                <a:latin typeface="Yu Gothic" pitchFamily="34" charset="0"/>
                <a:ea typeface="Yu Gothic" pitchFamily="34" charset="-122"/>
                <a:cs typeface="Yu Gothic" pitchFamily="34" charset="-120"/>
              </a:rPr>
              <a:t>AIコーディングエージェントに反復的にリファクタリングを行わせ</a:t>
            </a:r>
            <a:r>
              <a:rPr lang="ja-JP" altLang="en-US" sz="1500" b="1" dirty="0">
                <a:solidFill>
                  <a:srgbClr val="1E2A2E"/>
                </a:solidFill>
                <a:latin typeface="Yu Gothic" pitchFamily="34" charset="0"/>
                <a:ea typeface="Yu Gothic" pitchFamily="34" charset="-122"/>
                <a:cs typeface="Yu Gothic" pitchFamily="34" charset="-120"/>
              </a:rPr>
              <a:t>，</a:t>
            </a:r>
            <a:r>
              <a:rPr lang="en-US" sz="1500" b="1" dirty="0" err="1">
                <a:solidFill>
                  <a:srgbClr val="1E2A2E"/>
                </a:solidFill>
                <a:latin typeface="Yu Gothic" pitchFamily="34" charset="0"/>
                <a:ea typeface="Yu Gothic" pitchFamily="34" charset="-122"/>
                <a:cs typeface="Yu Gothic" pitchFamily="34" charset="-120"/>
              </a:rPr>
              <a:t>ソフトウェアのコード品質がどう変化するかを検証</a:t>
            </a:r>
            <a:endParaRPr lang="en-US" sz="1300" b="1" dirty="0"/>
          </a:p>
        </p:txBody>
      </p:sp>
      <p:sp>
        <p:nvSpPr>
          <p:cNvPr id="9" name="Text 6"/>
          <p:cNvSpPr/>
          <p:nvPr/>
        </p:nvSpPr>
        <p:spPr>
          <a:xfrm>
            <a:off x="685800" y="3657600"/>
            <a:ext cx="10820095" cy="164592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2000" dirty="0" err="1">
                <a:latin typeface="Yu Gothic" pitchFamily="34" charset="0"/>
                <a:ea typeface="Yu Gothic" pitchFamily="34" charset="-122"/>
                <a:cs typeface="Yu Gothic" pitchFamily="34" charset="-120"/>
              </a:rPr>
              <a:t>反復を重ねるほど</a:t>
            </a:r>
            <a:r>
              <a:rPr lang="ja-JP" altLang="en-US" sz="2000" dirty="0">
                <a:latin typeface="Yu Gothic" pitchFamily="34" charset="0"/>
                <a:ea typeface="Yu Gothic" pitchFamily="34" charset="-122"/>
                <a:cs typeface="Yu Gothic" pitchFamily="34" charset="-120"/>
              </a:rPr>
              <a:t>，</a:t>
            </a:r>
            <a:r>
              <a:rPr lang="en-US" sz="2000" dirty="0" err="1">
                <a:latin typeface="Yu Gothic" pitchFamily="34" charset="0"/>
                <a:ea typeface="Yu Gothic" pitchFamily="34" charset="-122"/>
                <a:cs typeface="Yu Gothic" pitchFamily="34" charset="-120"/>
              </a:rPr>
              <a:t>コード品質は本当に向上し続けるか</a:t>
            </a:r>
            <a:endParaRPr lang="en-US" sz="2000" dirty="0"/>
          </a:p>
          <a:p>
            <a:pPr marL="342900" indent="-342900">
              <a:lnSpc>
                <a:spcPct val="110000"/>
              </a:lnSpc>
              <a:spcAft>
                <a:spcPts val="1000"/>
              </a:spcAft>
              <a:buSzPct val="100000"/>
              <a:buChar char="•"/>
            </a:pPr>
            <a:r>
              <a:rPr lang="en-US" sz="2000" dirty="0" err="1">
                <a:latin typeface="Yu Gothic" pitchFamily="34" charset="0"/>
                <a:ea typeface="Yu Gothic" pitchFamily="34" charset="-122"/>
                <a:cs typeface="Yu Gothic" pitchFamily="34" charset="-120"/>
              </a:rPr>
              <a:t>対象：</a:t>
            </a:r>
            <a:r>
              <a:rPr lang="en-US" altLang="ja-JP" sz="2000" dirty="0" err="1">
                <a:latin typeface="Yu Gothic" pitchFamily="34" charset="0"/>
                <a:ea typeface="Yu Gothic" pitchFamily="34" charset="-122"/>
                <a:cs typeface="Yu Gothic" pitchFamily="34" charset="-120"/>
              </a:rPr>
              <a:t>Github</a:t>
            </a:r>
            <a:r>
              <a:rPr lang="ja-JP" altLang="en-US" sz="2000" dirty="0">
                <a:latin typeface="Yu Gothic" pitchFamily="34" charset="0"/>
                <a:ea typeface="Yu Gothic" pitchFamily="34" charset="-122"/>
                <a:cs typeface="Yu Gothic" pitchFamily="34" charset="-120"/>
              </a:rPr>
              <a:t>上のオープンソースコード</a:t>
            </a:r>
            <a:r>
              <a:rPr lang="en-US" sz="2000" dirty="0">
                <a:latin typeface="Yu Gothic" pitchFamily="34" charset="0"/>
                <a:ea typeface="Yu Gothic" pitchFamily="34" charset="-122"/>
                <a:cs typeface="Yu Gothic" pitchFamily="34" charset="-120"/>
              </a:rPr>
              <a:t>（</a:t>
            </a:r>
            <a:r>
              <a:rPr lang="en-US" sz="2000" dirty="0" err="1">
                <a:latin typeface="Yu Gothic" pitchFamily="34" charset="0"/>
                <a:ea typeface="Yu Gothic" pitchFamily="34" charset="-122"/>
                <a:cs typeface="Yu Gothic" pitchFamily="34" charset="-120"/>
              </a:rPr>
              <a:t>例：</a:t>
            </a:r>
            <a:r>
              <a:rPr lang="en-US" altLang="ja-JP" sz="2000" dirty="0" err="1">
                <a:latin typeface="Yu Gothic" pitchFamily="34" charset="0"/>
                <a:ea typeface="Yu Gothic" pitchFamily="34" charset="-122"/>
                <a:cs typeface="Yu Gothic" pitchFamily="34" charset="-120"/>
              </a:rPr>
              <a:t>Commons-math</a:t>
            </a:r>
            <a:r>
              <a:rPr lang="en-US" altLang="ja-JP" sz="2000" dirty="0">
                <a:latin typeface="Yu Gothic" pitchFamily="34" charset="0"/>
                <a:ea typeface="Yu Gothic" pitchFamily="34" charset="-122"/>
                <a:cs typeface="Yu Gothic" pitchFamily="34" charset="-120"/>
              </a:rPr>
              <a:t> :</a:t>
            </a:r>
            <a:r>
              <a:rPr lang="en-US" sz="2000" dirty="0" err="1">
                <a:latin typeface="Yu Gothic" pitchFamily="34" charset="0"/>
                <a:ea typeface="Yu Gothic" pitchFamily="34" charset="-122"/>
                <a:cs typeface="Yu Gothic" pitchFamily="34" charset="-120"/>
              </a:rPr>
              <a:t>FastMath</a:t>
            </a:r>
            <a:r>
              <a:rPr lang="en-US" sz="2000" dirty="0">
                <a:latin typeface="Yu Gothic" pitchFamily="34" charset="0"/>
                <a:ea typeface="Yu Gothic" pitchFamily="34" charset="-122"/>
                <a:cs typeface="Yu Gothic" pitchFamily="34" charset="-120"/>
              </a:rPr>
              <a:t>, MathArrays）</a:t>
            </a:r>
            <a:endParaRPr lang="en-US" sz="2000" dirty="0"/>
          </a:p>
        </p:txBody>
      </p:sp>
      <p:pic>
        <p:nvPicPr>
          <p:cNvPr id="11" name="図 10" descr="math&#10;&#10;AI 生成コンテンツは誤りを含む可能性があります。">
            <a:extLst>
              <a:ext uri="{FF2B5EF4-FFF2-40B4-BE49-F238E27FC236}">
                <a16:creationId xmlns:a16="http://schemas.microsoft.com/office/drawing/2014/main" id="{A2588804-7014-21BF-EA42-FAA24A033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4958" y="5303520"/>
            <a:ext cx="3641439" cy="12526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pPr marL="0" indent="0" algn="l">
              <a:buNone/>
            </a:pPr>
            <a:r>
              <a:rPr lang="en-US" sz="3000" b="1" u="sng" dirty="0">
                <a:solidFill>
                  <a:srgbClr val="1E2A2E"/>
                </a:solidFill>
                <a:latin typeface="Yu Gothic" pitchFamily="34" charset="0"/>
                <a:ea typeface="Yu Gothic" pitchFamily="34" charset="-122"/>
                <a:cs typeface="Yu Gothic" pitchFamily="34" charset="-120"/>
              </a:rPr>
              <a:t>検証の流れ</a:t>
            </a:r>
            <a:endParaRPr lang="en-US" sz="3000" u="sng" dirty="0"/>
          </a:p>
        </p:txBody>
      </p:sp>
      <p:pic>
        <p:nvPicPr>
          <p:cNvPr id="4" name="Image 0" descr="img/flow.png"/>
          <p:cNvPicPr>
            <a:picLocks noChangeAspect="1"/>
          </p:cNvPicPr>
          <p:nvPr/>
        </p:nvPicPr>
        <p:blipFill>
          <a:blip r:embed="rId3"/>
          <a:stretch>
            <a:fillRect/>
          </a:stretch>
        </p:blipFill>
        <p:spPr>
          <a:xfrm>
            <a:off x="7269480" y="868680"/>
            <a:ext cx="3891686" cy="5212080"/>
          </a:xfrm>
          <a:prstGeom prst="rect">
            <a:avLst/>
          </a:prstGeom>
        </p:spPr>
      </p:pic>
      <p:sp>
        <p:nvSpPr>
          <p:cNvPr id="5" name="Shape 2"/>
          <p:cNvSpPr/>
          <p:nvPr/>
        </p:nvSpPr>
        <p:spPr>
          <a:xfrm>
            <a:off x="685800" y="1737360"/>
            <a:ext cx="502920" cy="502920"/>
          </a:xfrm>
          <a:prstGeom prst="ellipse">
            <a:avLst/>
          </a:prstGeom>
          <a:solidFill>
            <a:srgbClr val="117A8B"/>
          </a:solidFill>
          <a:ln/>
        </p:spPr>
      </p:sp>
      <p:sp>
        <p:nvSpPr>
          <p:cNvPr id="6" name="Text 3"/>
          <p:cNvSpPr/>
          <p:nvPr/>
        </p:nvSpPr>
        <p:spPr>
          <a:xfrm>
            <a:off x="685800" y="1737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7" name="Text 4"/>
          <p:cNvSpPr/>
          <p:nvPr/>
        </p:nvSpPr>
        <p:spPr>
          <a:xfrm>
            <a:off x="1417320" y="1664208"/>
            <a:ext cx="5120640" cy="411480"/>
          </a:xfrm>
          <a:prstGeom prst="rect">
            <a:avLst/>
          </a:prstGeom>
          <a:noFill/>
          <a:ln/>
        </p:spPr>
        <p:txBody>
          <a:bodyPr wrap="square" lIns="0" tIns="0" rIns="0" bIns="0" rtlCol="0" anchor="ctr"/>
          <a:lstStyle/>
          <a:p>
            <a:pPr marL="0" indent="0">
              <a:buNone/>
            </a:pPr>
            <a:r>
              <a:rPr lang="en-US" sz="1700" b="1" dirty="0">
                <a:solidFill>
                  <a:srgbClr val="1E2A2E"/>
                </a:solidFill>
                <a:latin typeface="Yu Gothic" pitchFamily="34" charset="0"/>
                <a:ea typeface="Yu Gothic" pitchFamily="34" charset="-122"/>
                <a:cs typeface="Yu Gothic" pitchFamily="34" charset="-120"/>
              </a:rPr>
              <a:t>リファクタリング指示</a:t>
            </a:r>
            <a:endParaRPr lang="en-US" sz="1700" dirty="0"/>
          </a:p>
        </p:txBody>
      </p:sp>
      <p:sp>
        <p:nvSpPr>
          <p:cNvPr id="8" name="Text 5"/>
          <p:cNvSpPr/>
          <p:nvPr/>
        </p:nvSpPr>
        <p:spPr>
          <a:xfrm>
            <a:off x="1417320" y="2121408"/>
            <a:ext cx="5120640" cy="548640"/>
          </a:xfrm>
          <a:prstGeom prst="rect">
            <a:avLst/>
          </a:prstGeom>
          <a:noFill/>
          <a:ln/>
        </p:spPr>
        <p:txBody>
          <a:bodyPr wrap="square" lIns="0" tIns="0" rIns="0" bIns="0" rtlCol="0" anchor="ctr"/>
          <a:lstStyle/>
          <a:p>
            <a:pPr marL="0" indent="0">
              <a:lnSpc>
                <a:spcPct val="112000"/>
              </a:lnSpc>
              <a:buNone/>
            </a:pPr>
            <a:r>
              <a:rPr lang="en-US" sz="1400" dirty="0">
                <a:latin typeface="Yu Gothic" pitchFamily="34" charset="0"/>
                <a:ea typeface="Yu Gothic" pitchFamily="34" charset="-122"/>
                <a:cs typeface="Yu Gothic" pitchFamily="34" charset="-120"/>
              </a:rPr>
              <a:t>可読性向上・複雑度低減などを目標に Claude Code へ依頼</a:t>
            </a:r>
            <a:endParaRPr lang="en-US" sz="1400" dirty="0"/>
          </a:p>
        </p:txBody>
      </p:sp>
      <p:sp>
        <p:nvSpPr>
          <p:cNvPr id="9" name="Shape 6"/>
          <p:cNvSpPr/>
          <p:nvPr/>
        </p:nvSpPr>
        <p:spPr>
          <a:xfrm>
            <a:off x="685800" y="2834640"/>
            <a:ext cx="502920" cy="502920"/>
          </a:xfrm>
          <a:prstGeom prst="ellipse">
            <a:avLst/>
          </a:prstGeom>
          <a:solidFill>
            <a:srgbClr val="117A8B"/>
          </a:solidFill>
          <a:ln/>
        </p:spPr>
      </p:sp>
      <p:sp>
        <p:nvSpPr>
          <p:cNvPr id="10" name="Text 7"/>
          <p:cNvSpPr/>
          <p:nvPr/>
        </p:nvSpPr>
        <p:spPr>
          <a:xfrm>
            <a:off x="685800" y="2834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8"/>
          <p:cNvSpPr/>
          <p:nvPr/>
        </p:nvSpPr>
        <p:spPr>
          <a:xfrm>
            <a:off x="1417320" y="2761488"/>
            <a:ext cx="5120640" cy="411480"/>
          </a:xfrm>
          <a:prstGeom prst="rect">
            <a:avLst/>
          </a:prstGeom>
          <a:noFill/>
          <a:ln/>
        </p:spPr>
        <p:txBody>
          <a:bodyPr wrap="square" lIns="0" tIns="0" rIns="0" bIns="0" rtlCol="0" anchor="ctr"/>
          <a:lstStyle/>
          <a:p>
            <a:pPr marL="0" indent="0">
              <a:buNone/>
            </a:pPr>
            <a:r>
              <a:rPr lang="en-US" sz="1700" b="1" dirty="0">
                <a:solidFill>
                  <a:srgbClr val="1E2A2E"/>
                </a:solidFill>
                <a:latin typeface="Yu Gothic" pitchFamily="34" charset="0"/>
                <a:ea typeface="Yu Gothic" pitchFamily="34" charset="-122"/>
                <a:cs typeface="Yu Gothic" pitchFamily="34" charset="-120"/>
              </a:rPr>
              <a:t>コンパイル・テスト</a:t>
            </a:r>
            <a:endParaRPr lang="en-US" sz="1700" dirty="0"/>
          </a:p>
        </p:txBody>
      </p:sp>
      <p:sp>
        <p:nvSpPr>
          <p:cNvPr id="12" name="Text 9"/>
          <p:cNvSpPr/>
          <p:nvPr/>
        </p:nvSpPr>
        <p:spPr>
          <a:xfrm>
            <a:off x="1417320" y="3218688"/>
            <a:ext cx="5120640" cy="548640"/>
          </a:xfrm>
          <a:prstGeom prst="rect">
            <a:avLst/>
          </a:prstGeom>
          <a:noFill/>
          <a:ln/>
        </p:spPr>
        <p:txBody>
          <a:bodyPr wrap="square" lIns="0" tIns="0" rIns="0" bIns="0" rtlCol="0" anchor="ctr"/>
          <a:lstStyle/>
          <a:p>
            <a:pPr marL="0" indent="0">
              <a:lnSpc>
                <a:spcPct val="112000"/>
              </a:lnSpc>
              <a:buNone/>
            </a:pPr>
            <a:r>
              <a:rPr lang="en-US" sz="1400" dirty="0">
                <a:latin typeface="Yu Gothic" pitchFamily="34" charset="0"/>
                <a:ea typeface="Yu Gothic" pitchFamily="34" charset="-122"/>
                <a:cs typeface="Yu Gothic" pitchFamily="34" charset="-120"/>
              </a:rPr>
              <a:t>テストを通過した場合のみ次へ進む</a:t>
            </a:r>
            <a:endParaRPr lang="en-US" sz="1400" dirty="0"/>
          </a:p>
        </p:txBody>
      </p:sp>
      <p:sp>
        <p:nvSpPr>
          <p:cNvPr id="13" name="Shape 10"/>
          <p:cNvSpPr/>
          <p:nvPr/>
        </p:nvSpPr>
        <p:spPr>
          <a:xfrm>
            <a:off x="685800" y="3931920"/>
            <a:ext cx="502920" cy="502920"/>
          </a:xfrm>
          <a:prstGeom prst="ellipse">
            <a:avLst/>
          </a:prstGeom>
          <a:solidFill>
            <a:srgbClr val="117A8B"/>
          </a:solidFill>
          <a:ln/>
        </p:spPr>
      </p:sp>
      <p:sp>
        <p:nvSpPr>
          <p:cNvPr id="14" name="Text 11"/>
          <p:cNvSpPr/>
          <p:nvPr/>
        </p:nvSpPr>
        <p:spPr>
          <a:xfrm>
            <a:off x="685800" y="3931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5" name="Text 12"/>
          <p:cNvSpPr/>
          <p:nvPr/>
        </p:nvSpPr>
        <p:spPr>
          <a:xfrm>
            <a:off x="1417320" y="3858768"/>
            <a:ext cx="5120640" cy="411480"/>
          </a:xfrm>
          <a:prstGeom prst="rect">
            <a:avLst/>
          </a:prstGeom>
          <a:noFill/>
          <a:ln/>
        </p:spPr>
        <p:txBody>
          <a:bodyPr wrap="square" lIns="0" tIns="0" rIns="0" bIns="0" rtlCol="0" anchor="ctr"/>
          <a:lstStyle/>
          <a:p>
            <a:pPr marL="0" indent="0">
              <a:buNone/>
            </a:pPr>
            <a:r>
              <a:rPr lang="en-US" sz="1700" b="1" dirty="0">
                <a:solidFill>
                  <a:srgbClr val="1E2A2E"/>
                </a:solidFill>
                <a:latin typeface="Yu Gothic" pitchFamily="34" charset="0"/>
                <a:ea typeface="Yu Gothic" pitchFamily="34" charset="-122"/>
                <a:cs typeface="Yu Gothic" pitchFamily="34" charset="-120"/>
              </a:rPr>
              <a:t>品質メトリクス計測</a:t>
            </a:r>
            <a:endParaRPr lang="en-US" sz="1700" dirty="0"/>
          </a:p>
        </p:txBody>
      </p:sp>
      <p:sp>
        <p:nvSpPr>
          <p:cNvPr id="16" name="Text 13"/>
          <p:cNvSpPr/>
          <p:nvPr/>
        </p:nvSpPr>
        <p:spPr>
          <a:xfrm>
            <a:off x="1417320" y="4315968"/>
            <a:ext cx="5120640" cy="548640"/>
          </a:xfrm>
          <a:prstGeom prst="rect">
            <a:avLst/>
          </a:prstGeom>
          <a:noFill/>
          <a:ln/>
        </p:spPr>
        <p:txBody>
          <a:bodyPr wrap="square" lIns="0" tIns="0" rIns="0" bIns="0" rtlCol="0" anchor="ctr"/>
          <a:lstStyle/>
          <a:p>
            <a:pPr marL="0" indent="0">
              <a:lnSpc>
                <a:spcPct val="112000"/>
              </a:lnSpc>
              <a:buNone/>
            </a:pPr>
            <a:r>
              <a:rPr lang="en-US" sz="1400" dirty="0">
                <a:latin typeface="Yu Gothic" pitchFamily="34" charset="0"/>
                <a:ea typeface="Yu Gothic" pitchFamily="34" charset="-122"/>
                <a:cs typeface="Yu Gothic" pitchFamily="34" charset="-120"/>
              </a:rPr>
              <a:t>リファクタリング種別・コードスメル・複雑度を計測</a:t>
            </a:r>
            <a:endParaRPr lang="en-US" sz="1400" dirty="0"/>
          </a:p>
        </p:txBody>
      </p:sp>
      <p:sp>
        <p:nvSpPr>
          <p:cNvPr id="17" name="Shape 14"/>
          <p:cNvSpPr/>
          <p:nvPr/>
        </p:nvSpPr>
        <p:spPr>
          <a:xfrm>
            <a:off x="685800" y="5029200"/>
            <a:ext cx="502920" cy="502920"/>
          </a:xfrm>
          <a:prstGeom prst="ellipse">
            <a:avLst/>
          </a:prstGeom>
          <a:solidFill>
            <a:srgbClr val="117A8B"/>
          </a:solidFill>
          <a:ln/>
        </p:spPr>
      </p:sp>
      <p:sp>
        <p:nvSpPr>
          <p:cNvPr id="18" name="Text 15"/>
          <p:cNvSpPr/>
          <p:nvPr/>
        </p:nvSpPr>
        <p:spPr>
          <a:xfrm>
            <a:off x="685800" y="5029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p:nvPr/>
        </p:nvSpPr>
        <p:spPr>
          <a:xfrm>
            <a:off x="1417320" y="4956048"/>
            <a:ext cx="5120640" cy="411480"/>
          </a:xfrm>
          <a:prstGeom prst="rect">
            <a:avLst/>
          </a:prstGeom>
          <a:noFill/>
          <a:ln/>
        </p:spPr>
        <p:txBody>
          <a:bodyPr wrap="square" lIns="0" tIns="0" rIns="0" bIns="0" rtlCol="0" anchor="ctr"/>
          <a:lstStyle/>
          <a:p>
            <a:pPr marL="0" indent="0">
              <a:buNone/>
            </a:pPr>
            <a:r>
              <a:rPr lang="en-US" sz="1700" b="1" dirty="0">
                <a:solidFill>
                  <a:srgbClr val="1E2A2E"/>
                </a:solidFill>
                <a:latin typeface="Yu Gothic" pitchFamily="34" charset="0"/>
                <a:ea typeface="Yu Gothic" pitchFamily="34" charset="-122"/>
                <a:cs typeface="Yu Gothic" pitchFamily="34" charset="-120"/>
              </a:rPr>
              <a:t>記録 → 反復</a:t>
            </a:r>
            <a:endParaRPr lang="en-US" sz="1700" dirty="0"/>
          </a:p>
        </p:txBody>
      </p:sp>
      <p:sp>
        <p:nvSpPr>
          <p:cNvPr id="20" name="Text 17"/>
          <p:cNvSpPr/>
          <p:nvPr/>
        </p:nvSpPr>
        <p:spPr>
          <a:xfrm>
            <a:off x="1417320" y="5413248"/>
            <a:ext cx="5120640" cy="548640"/>
          </a:xfrm>
          <a:prstGeom prst="rect">
            <a:avLst/>
          </a:prstGeom>
          <a:noFill/>
          <a:ln/>
        </p:spPr>
        <p:txBody>
          <a:bodyPr wrap="square" lIns="0" tIns="0" rIns="0" bIns="0" rtlCol="0" anchor="ctr"/>
          <a:lstStyle/>
          <a:p>
            <a:pPr marL="0" indent="0">
              <a:lnSpc>
                <a:spcPct val="112000"/>
              </a:lnSpc>
              <a:buNone/>
            </a:pPr>
            <a:r>
              <a:rPr lang="en-US" sz="1400" dirty="0" err="1">
                <a:latin typeface="Yu Gothic" pitchFamily="34" charset="0"/>
                <a:ea typeface="Yu Gothic" pitchFamily="34" charset="-122"/>
                <a:cs typeface="Yu Gothic" pitchFamily="34" charset="-120"/>
              </a:rPr>
              <a:t>結果を記録し</a:t>
            </a:r>
            <a:r>
              <a:rPr lang="ja-JP" altLang="en-US" sz="1400" dirty="0">
                <a:latin typeface="Yu Gothic" pitchFamily="34" charset="0"/>
                <a:ea typeface="Yu Gothic" pitchFamily="34" charset="-122"/>
                <a:cs typeface="Yu Gothic" pitchFamily="34" charset="-120"/>
              </a:rPr>
              <a:t>，</a:t>
            </a:r>
            <a:r>
              <a:rPr lang="en-US" sz="1400" dirty="0" err="1">
                <a:latin typeface="Yu Gothic" pitchFamily="34" charset="0"/>
                <a:ea typeface="Yu Gothic" pitchFamily="34" charset="-122"/>
                <a:cs typeface="Yu Gothic" pitchFamily="34" charset="-120"/>
              </a:rPr>
              <a:t>次のイテレーションへ</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pPr marL="0" indent="0" algn="l">
              <a:buNone/>
            </a:pPr>
            <a:r>
              <a:rPr lang="ja-JP" altLang="en-US" sz="3000" b="1" u="sng" dirty="0">
                <a:solidFill>
                  <a:srgbClr val="1E2A2E"/>
                </a:solidFill>
                <a:latin typeface="Yu Gothic" pitchFamily="34" charset="0"/>
                <a:ea typeface="Yu Gothic" pitchFamily="34" charset="-122"/>
                <a:cs typeface="Yu Gothic" pitchFamily="34" charset="-120"/>
              </a:rPr>
              <a:t>リファクタリングの</a:t>
            </a:r>
            <a:r>
              <a:rPr lang="en-US" sz="3000" b="1" u="sng" dirty="0" err="1">
                <a:solidFill>
                  <a:srgbClr val="1E2A2E"/>
                </a:solidFill>
                <a:latin typeface="Yu Gothic" pitchFamily="34" charset="0"/>
                <a:ea typeface="Yu Gothic" pitchFamily="34" charset="-122"/>
                <a:cs typeface="Yu Gothic" pitchFamily="34" charset="-120"/>
              </a:rPr>
              <a:t>収束</a:t>
            </a:r>
            <a:endParaRPr lang="en-US" sz="3000" u="sng" dirty="0"/>
          </a:p>
        </p:txBody>
      </p:sp>
      <p:pic>
        <p:nvPicPr>
          <p:cNvPr id="4" name="Image 0" descr="img/Number_of_Iterations_Run_per_Class.png"/>
          <p:cNvPicPr>
            <a:picLocks noChangeAspect="1"/>
          </p:cNvPicPr>
          <p:nvPr/>
        </p:nvPicPr>
        <p:blipFill>
          <a:blip r:embed="rId3"/>
          <a:stretch>
            <a:fillRect/>
          </a:stretch>
        </p:blipFill>
        <p:spPr>
          <a:xfrm>
            <a:off x="5470855" y="2514600"/>
            <a:ext cx="6035040" cy="2993087"/>
          </a:xfrm>
          <a:prstGeom prst="rect">
            <a:avLst/>
          </a:prstGeom>
          <a:effectLst>
            <a:outerShdw blurRad="114300" dist="38100" dir="5400000" algn="bl" rotWithShape="0">
              <a:srgbClr val="0E4C54">
                <a:alpha val="14000"/>
              </a:srgbClr>
            </a:outerShdw>
          </a:effectLst>
        </p:spPr>
      </p:pic>
      <p:sp>
        <p:nvSpPr>
          <p:cNvPr id="5" name="Text 2"/>
          <p:cNvSpPr/>
          <p:nvPr/>
        </p:nvSpPr>
        <p:spPr>
          <a:xfrm>
            <a:off x="5470855" y="5617415"/>
            <a:ext cx="6035040" cy="365760"/>
          </a:xfrm>
          <a:prstGeom prst="rect">
            <a:avLst/>
          </a:prstGeom>
          <a:noFill/>
          <a:ln/>
        </p:spPr>
        <p:txBody>
          <a:bodyPr wrap="square" lIns="0" tIns="0" rIns="0" bIns="0" rtlCol="0" anchor="ctr"/>
          <a:lstStyle/>
          <a:p>
            <a:pPr marL="0" indent="0" algn="ctr">
              <a:buNone/>
            </a:pPr>
            <a:r>
              <a:rPr lang="en-US" sz="1100" dirty="0">
                <a:latin typeface="Yu Gothic" pitchFamily="34" charset="0"/>
                <a:ea typeface="Yu Gothic" pitchFamily="34" charset="-122"/>
                <a:cs typeface="Yu Gothic" pitchFamily="34" charset="-120"/>
              </a:rPr>
              <a:t>クラス別の反復回数（緑＝収束 / 青＝20反復の上限で打ち切り）</a:t>
            </a:r>
            <a:endParaRPr lang="en-US" sz="1100" dirty="0"/>
          </a:p>
        </p:txBody>
      </p:sp>
      <p:pic>
        <p:nvPicPr>
          <p:cNvPr id="8" name="Image 1" descr="preencoded.png"/>
          <p:cNvPicPr>
            <a:picLocks noChangeAspect="1"/>
          </p:cNvPicPr>
          <p:nvPr/>
        </p:nvPicPr>
        <p:blipFill>
          <a:blip r:embed="rId4"/>
          <a:stretch>
            <a:fillRect/>
          </a:stretch>
        </p:blipFill>
        <p:spPr>
          <a:xfrm>
            <a:off x="1088136" y="2798064"/>
            <a:ext cx="292608" cy="292608"/>
          </a:xfrm>
          <a:prstGeom prst="rect">
            <a:avLst/>
          </a:prstGeom>
        </p:spPr>
      </p:pic>
      <p:sp>
        <p:nvSpPr>
          <p:cNvPr id="14" name="Text 9"/>
          <p:cNvSpPr/>
          <p:nvPr/>
        </p:nvSpPr>
        <p:spPr>
          <a:xfrm>
            <a:off x="985520" y="2405355"/>
            <a:ext cx="3383280" cy="457200"/>
          </a:xfrm>
          <a:prstGeom prst="rect">
            <a:avLst/>
          </a:prstGeom>
          <a:noFill/>
          <a:ln/>
        </p:spPr>
        <p:txBody>
          <a:bodyPr wrap="square" lIns="0" tIns="0" rIns="0" bIns="0" rtlCol="0" anchor="ctr"/>
          <a:lstStyle/>
          <a:p>
            <a:pPr marL="0" indent="0">
              <a:buNone/>
            </a:pPr>
            <a:r>
              <a:rPr lang="en-US" sz="1700" b="1" dirty="0" err="1">
                <a:solidFill>
                  <a:srgbClr val="1E2A2E"/>
                </a:solidFill>
                <a:latin typeface="Yu Gothic" pitchFamily="34" charset="0"/>
                <a:ea typeface="Yu Gothic" pitchFamily="34" charset="-122"/>
                <a:cs typeface="Yu Gothic" pitchFamily="34" charset="-120"/>
              </a:rPr>
              <a:t>収束は</a:t>
            </a:r>
            <a:r>
              <a:rPr lang="ja-JP" altLang="en-US" sz="1700" b="1" dirty="0">
                <a:solidFill>
                  <a:srgbClr val="1E2A2E"/>
                </a:solidFill>
                <a:latin typeface="Yu Gothic" pitchFamily="34" charset="0"/>
                <a:ea typeface="Yu Gothic" pitchFamily="34" charset="-122"/>
                <a:cs typeface="Yu Gothic" pitchFamily="34" charset="-120"/>
              </a:rPr>
              <a:t>クラスの</a:t>
            </a:r>
            <a:r>
              <a:rPr lang="en-US" sz="1700" b="1" dirty="0" err="1">
                <a:solidFill>
                  <a:srgbClr val="1E2A2E"/>
                </a:solidFill>
                <a:latin typeface="Yu Gothic" pitchFamily="34" charset="0"/>
                <a:ea typeface="Yu Gothic" pitchFamily="34" charset="-122"/>
                <a:cs typeface="Yu Gothic" pitchFamily="34" charset="-120"/>
              </a:rPr>
              <a:t>規模で</a:t>
            </a:r>
            <a:r>
              <a:rPr lang="ja-JP" altLang="en-US" sz="1700" b="1" dirty="0">
                <a:solidFill>
                  <a:srgbClr val="1E2A2E"/>
                </a:solidFill>
                <a:latin typeface="Yu Gothic" pitchFamily="34" charset="0"/>
                <a:ea typeface="Yu Gothic" pitchFamily="34" charset="-122"/>
                <a:cs typeface="Yu Gothic" pitchFamily="34" charset="-120"/>
              </a:rPr>
              <a:t>変化</a:t>
            </a:r>
            <a:endParaRPr lang="en-US" sz="1700" dirty="0"/>
          </a:p>
        </p:txBody>
      </p:sp>
      <p:sp>
        <p:nvSpPr>
          <p:cNvPr id="15" name="Text 10"/>
          <p:cNvSpPr/>
          <p:nvPr/>
        </p:nvSpPr>
        <p:spPr>
          <a:xfrm>
            <a:off x="975360" y="3165323"/>
            <a:ext cx="4114800" cy="930656"/>
          </a:xfrm>
          <a:prstGeom prst="rect">
            <a:avLst/>
          </a:prstGeom>
          <a:noFill/>
          <a:ln/>
        </p:spPr>
        <p:txBody>
          <a:bodyPr wrap="square" lIns="0" tIns="0" rIns="0" bIns="0" rtlCol="0" anchor="ctr"/>
          <a:lstStyle/>
          <a:p>
            <a:pPr marL="0" indent="0">
              <a:lnSpc>
                <a:spcPct val="118000"/>
              </a:lnSpc>
              <a:buNone/>
            </a:pPr>
            <a:r>
              <a:rPr lang="en-US" sz="1600" dirty="0">
                <a:latin typeface="Yu Gothic" pitchFamily="34" charset="0"/>
                <a:ea typeface="Yu Gothic" pitchFamily="34" charset="-122"/>
                <a:cs typeface="Yu Gothic" pitchFamily="34" charset="-120"/>
              </a:rPr>
              <a:t>小〜中規模の4クラスは7〜11反復で収束</a:t>
            </a:r>
          </a:p>
          <a:p>
            <a:pPr marL="0" indent="0">
              <a:lnSpc>
                <a:spcPct val="118000"/>
              </a:lnSpc>
              <a:buNone/>
            </a:pPr>
            <a:r>
              <a:rPr lang="en-US" sz="1600" dirty="0" err="1">
                <a:latin typeface="Yu Gothic" pitchFamily="34" charset="0"/>
                <a:ea typeface="Yu Gothic" pitchFamily="34" charset="-122"/>
                <a:cs typeface="Yu Gothic" pitchFamily="34" charset="-120"/>
              </a:rPr>
              <a:t>大規模な</a:t>
            </a:r>
            <a:r>
              <a:rPr lang="en-US" sz="1600" dirty="0">
                <a:latin typeface="Yu Gothic" pitchFamily="34" charset="0"/>
                <a:ea typeface="Yu Gothic" pitchFamily="34" charset="-122"/>
                <a:cs typeface="Yu Gothic" pitchFamily="34" charset="-120"/>
              </a:rPr>
              <a:t> FastMath・MathArrays は20反復の上限まで未収束</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85800" y="868680"/>
            <a:ext cx="10820095" cy="822960"/>
          </a:xfrm>
          <a:prstGeom prst="rect">
            <a:avLst/>
          </a:prstGeom>
          <a:noFill/>
          <a:ln/>
        </p:spPr>
        <p:txBody>
          <a:bodyPr wrap="square" lIns="0" tIns="0" rIns="0" bIns="0" rtlCol="0" anchor="t"/>
          <a:lstStyle/>
          <a:p>
            <a:r>
              <a:rPr lang="ja-JP" altLang="ja-JP" sz="3200" b="1" u="sng" dirty="0"/>
              <a:t>リファクタリングの種類と量</a:t>
            </a:r>
            <a:r>
              <a:rPr lang="ja-JP" altLang="en-US" sz="3200" b="1" u="sng" dirty="0"/>
              <a:t>の変化</a:t>
            </a:r>
            <a:endParaRPr lang="en-US" sz="3000" b="1" u="sng" dirty="0"/>
          </a:p>
        </p:txBody>
      </p:sp>
      <p:sp>
        <p:nvSpPr>
          <p:cNvPr id="4" name="Text 2"/>
          <p:cNvSpPr/>
          <p:nvPr/>
        </p:nvSpPr>
        <p:spPr>
          <a:xfrm>
            <a:off x="980440" y="1645920"/>
            <a:ext cx="5017688" cy="365760"/>
          </a:xfrm>
          <a:prstGeom prst="rect">
            <a:avLst/>
          </a:prstGeom>
          <a:noFill/>
          <a:ln/>
        </p:spPr>
        <p:txBody>
          <a:bodyPr wrap="square" lIns="0" tIns="0" rIns="0" bIns="0" rtlCol="0" anchor="ctr"/>
          <a:lstStyle/>
          <a:p>
            <a:pPr marL="0" indent="0">
              <a:buNone/>
            </a:pPr>
            <a:r>
              <a:rPr lang="ja-JP" altLang="en-US" sz="1500" b="1" dirty="0">
                <a:latin typeface="Yu Gothic" pitchFamily="34" charset="0"/>
                <a:ea typeface="Yu Gothic" pitchFamily="34" charset="-122"/>
                <a:cs typeface="Yu Gothic" pitchFamily="34" charset="-120"/>
              </a:rPr>
              <a:t>序盤</a:t>
            </a:r>
            <a:r>
              <a:rPr lang="en-US" sz="1500" b="1" dirty="0" err="1">
                <a:latin typeface="Yu Gothic" pitchFamily="34" charset="0"/>
                <a:ea typeface="Yu Gothic" pitchFamily="34" charset="-122"/>
                <a:cs typeface="Yu Gothic" pitchFamily="34" charset="-120"/>
              </a:rPr>
              <a:t>に多様・大量</a:t>
            </a:r>
            <a:r>
              <a:rPr lang="en-US" sz="1500" b="1" dirty="0">
                <a:latin typeface="Yu Gothic" pitchFamily="34" charset="0"/>
                <a:ea typeface="Yu Gothic" pitchFamily="34" charset="-122"/>
                <a:cs typeface="Yu Gothic" pitchFamily="34" charset="-120"/>
              </a:rPr>
              <a:t> → </a:t>
            </a:r>
            <a:r>
              <a:rPr lang="ja-JP" altLang="en-US" sz="1500" b="1" dirty="0">
                <a:latin typeface="Yu Gothic" pitchFamily="34" charset="0"/>
                <a:ea typeface="Yu Gothic" pitchFamily="34" charset="-122"/>
                <a:cs typeface="Yu Gothic" pitchFamily="34" charset="-120"/>
              </a:rPr>
              <a:t>後半は同一手法の反復</a:t>
            </a:r>
            <a:endParaRPr lang="en-US" sz="1500" b="1" dirty="0"/>
          </a:p>
        </p:txBody>
      </p:sp>
      <p:pic>
        <p:nvPicPr>
          <p:cNvPr id="5" name="Image 0" descr="img/FastMath.png"/>
          <p:cNvPicPr>
            <a:picLocks noChangeAspect="1"/>
          </p:cNvPicPr>
          <p:nvPr/>
        </p:nvPicPr>
        <p:blipFill>
          <a:blip r:embed="rId3"/>
          <a:stretch>
            <a:fillRect/>
          </a:stretch>
        </p:blipFill>
        <p:spPr>
          <a:xfrm>
            <a:off x="6339535" y="3906520"/>
            <a:ext cx="4333395" cy="2153920"/>
          </a:xfrm>
          <a:prstGeom prst="rect">
            <a:avLst/>
          </a:prstGeom>
          <a:effectLst>
            <a:outerShdw blurRad="114300" dist="38100" dir="5400000" algn="bl" rotWithShape="0">
              <a:srgbClr val="0E4C54">
                <a:alpha val="14000"/>
              </a:srgbClr>
            </a:outerShdw>
          </a:effectLst>
        </p:spPr>
      </p:pic>
      <p:sp>
        <p:nvSpPr>
          <p:cNvPr id="6" name="Text 3"/>
          <p:cNvSpPr/>
          <p:nvPr/>
        </p:nvSpPr>
        <p:spPr>
          <a:xfrm>
            <a:off x="5290593" y="6122847"/>
            <a:ext cx="6400800" cy="320040"/>
          </a:xfrm>
          <a:prstGeom prst="rect">
            <a:avLst/>
          </a:prstGeom>
          <a:noFill/>
          <a:ln/>
        </p:spPr>
        <p:txBody>
          <a:bodyPr wrap="square" lIns="0" tIns="0" rIns="0" bIns="0" rtlCol="0" anchor="ctr"/>
          <a:lstStyle/>
          <a:p>
            <a:pPr marL="0" indent="0" algn="ctr">
              <a:buNone/>
            </a:pPr>
            <a:r>
              <a:rPr lang="en-US" sz="1100" dirty="0" err="1">
                <a:solidFill>
                  <a:srgbClr val="5B6B70"/>
                </a:solidFill>
                <a:latin typeface="Yu Gothic" pitchFamily="34" charset="0"/>
                <a:ea typeface="Yu Gothic" pitchFamily="34" charset="-122"/>
                <a:cs typeface="Yu Gothic" pitchFamily="34" charset="-120"/>
              </a:rPr>
              <a:t>リファクタリング手法の内訳（例</a:t>
            </a:r>
            <a:r>
              <a:rPr lang="ja-JP" altLang="en-US" sz="1100" dirty="0">
                <a:solidFill>
                  <a:srgbClr val="5B6B70"/>
                </a:solidFill>
                <a:latin typeface="Yu Gothic" pitchFamily="34" charset="0"/>
                <a:ea typeface="Yu Gothic" pitchFamily="34" charset="-122"/>
                <a:cs typeface="Yu Gothic" pitchFamily="34" charset="-120"/>
              </a:rPr>
              <a:t>：</a:t>
            </a:r>
            <a:r>
              <a:rPr lang="en-US" altLang="ja-JP" sz="1100" dirty="0">
                <a:solidFill>
                  <a:srgbClr val="5B6B70"/>
                </a:solidFill>
                <a:latin typeface="Yu Gothic" pitchFamily="34" charset="0"/>
                <a:ea typeface="Yu Gothic" pitchFamily="34" charset="-122"/>
                <a:cs typeface="Yu Gothic" pitchFamily="34" charset="-120"/>
              </a:rPr>
              <a:t>Precision,</a:t>
            </a:r>
            <a:r>
              <a:rPr lang="ja-JP" altLang="en-US" sz="1100" dirty="0">
                <a:solidFill>
                  <a:srgbClr val="5B6B70"/>
                </a:solidFill>
                <a:latin typeface="Yu Gothic" pitchFamily="34" charset="0"/>
                <a:ea typeface="Yu Gothic" pitchFamily="34" charset="-122"/>
                <a:cs typeface="Yu Gothic" pitchFamily="34" charset="-120"/>
              </a:rPr>
              <a:t>　</a:t>
            </a:r>
            <a:r>
              <a:rPr lang="en-US" sz="1100" dirty="0" err="1">
                <a:solidFill>
                  <a:srgbClr val="5B6B70"/>
                </a:solidFill>
                <a:latin typeface="Yu Gothic" pitchFamily="34" charset="0"/>
                <a:ea typeface="Yu Gothic" pitchFamily="34" charset="-122"/>
                <a:cs typeface="Yu Gothic" pitchFamily="34" charset="-120"/>
              </a:rPr>
              <a:t>FastMath</a:t>
            </a:r>
            <a:r>
              <a:rPr lang="en-US" sz="1100" dirty="0">
                <a:solidFill>
                  <a:srgbClr val="5B6B70"/>
                </a:solidFill>
                <a:latin typeface="Yu Gothic" pitchFamily="34" charset="0"/>
                <a:ea typeface="Yu Gothic" pitchFamily="34" charset="-122"/>
                <a:cs typeface="Yu Gothic" pitchFamily="34" charset="-120"/>
              </a:rPr>
              <a:t>）</a:t>
            </a:r>
            <a:endParaRPr lang="en-US" sz="1100" dirty="0"/>
          </a:p>
        </p:txBody>
      </p:sp>
      <p:sp>
        <p:nvSpPr>
          <p:cNvPr id="7" name="Text 4"/>
          <p:cNvSpPr/>
          <p:nvPr/>
        </p:nvSpPr>
        <p:spPr>
          <a:xfrm>
            <a:off x="980440" y="2468880"/>
            <a:ext cx="4770120" cy="2926080"/>
          </a:xfrm>
          <a:prstGeom prst="rect">
            <a:avLst/>
          </a:prstGeom>
          <a:noFill/>
          <a:ln/>
        </p:spPr>
        <p:txBody>
          <a:bodyPr wrap="square" lIns="0" tIns="0" rIns="0" bIns="0" rtlCol="0" anchor="ctr"/>
          <a:lstStyle/>
          <a:p>
            <a:pPr marL="342900" indent="-342900">
              <a:lnSpc>
                <a:spcPct val="120000"/>
              </a:lnSpc>
              <a:spcAft>
                <a:spcPts val="1400"/>
              </a:spcAft>
              <a:buSzPct val="100000"/>
              <a:buChar char="•"/>
            </a:pPr>
            <a:r>
              <a:rPr lang="en-US" sz="1600" dirty="0">
                <a:latin typeface="Yu Gothic" pitchFamily="34" charset="0"/>
                <a:ea typeface="Yu Gothic" pitchFamily="34" charset="-122"/>
                <a:cs typeface="Yu Gothic" pitchFamily="34" charset="-120"/>
              </a:rPr>
              <a:t>序盤に Extract Method・Parameterize・Rename など多様な手法が集中</a:t>
            </a:r>
            <a:endParaRPr lang="en-US" sz="1600" dirty="0"/>
          </a:p>
          <a:p>
            <a:pPr marL="342900" indent="-342900">
              <a:lnSpc>
                <a:spcPct val="120000"/>
              </a:lnSpc>
              <a:spcAft>
                <a:spcPts val="1400"/>
              </a:spcAft>
              <a:buSzPct val="100000"/>
              <a:buChar char="•"/>
            </a:pPr>
            <a:r>
              <a:rPr lang="en-US" sz="1600" dirty="0" err="1">
                <a:latin typeface="Yu Gothic" pitchFamily="34" charset="0"/>
                <a:ea typeface="Yu Gothic" pitchFamily="34" charset="-122"/>
                <a:cs typeface="Yu Gothic" pitchFamily="34" charset="-120"/>
              </a:rPr>
              <a:t>後半は</a:t>
            </a:r>
            <a:r>
              <a:rPr lang="en-US" sz="1600" dirty="0">
                <a:latin typeface="Yu Gothic" pitchFamily="34" charset="0"/>
                <a:ea typeface="Yu Gothic" pitchFamily="34" charset="-122"/>
                <a:cs typeface="Yu Gothic" pitchFamily="34" charset="-120"/>
              </a:rPr>
              <a:t> </a:t>
            </a:r>
            <a:r>
              <a:rPr lang="ja-JP" altLang="ja-JP" sz="1600" dirty="0">
                <a:latin typeface="+mn-ea"/>
              </a:rPr>
              <a:t>Extract Method・Rename中心に収束</a:t>
            </a:r>
            <a:endParaRPr lang="en-US" sz="1600" dirty="0">
              <a:latin typeface="+mn-ea"/>
            </a:endParaRPr>
          </a:p>
          <a:p>
            <a:pPr marL="342900" indent="-342900">
              <a:lnSpc>
                <a:spcPct val="120000"/>
              </a:lnSpc>
              <a:spcAft>
                <a:spcPts val="1400"/>
              </a:spcAft>
              <a:buSzPct val="100000"/>
              <a:buChar char="•"/>
            </a:pPr>
            <a:r>
              <a:rPr lang="en-US" sz="1600" dirty="0">
                <a:latin typeface="Yu Gothic" pitchFamily="34" charset="0"/>
                <a:ea typeface="Yu Gothic" pitchFamily="34" charset="-122"/>
                <a:cs typeface="Yu Gothic" pitchFamily="34" charset="-120"/>
              </a:rPr>
              <a:t>FastMath は Add Variable </a:t>
            </a:r>
            <a:r>
              <a:rPr lang="en-US" sz="1600" dirty="0" err="1">
                <a:latin typeface="Yu Gothic" pitchFamily="34" charset="0"/>
                <a:ea typeface="Yu Gothic" pitchFamily="34" charset="-122"/>
                <a:cs typeface="Yu Gothic" pitchFamily="34" charset="-120"/>
              </a:rPr>
              <a:t>Modifierを延々と反復し,収束せず</a:t>
            </a:r>
            <a:endParaRPr lang="en-US" sz="1600" dirty="0"/>
          </a:p>
        </p:txBody>
      </p:sp>
      <p:pic>
        <p:nvPicPr>
          <p:cNvPr id="11" name="Image 0">
            <a:extLst>
              <a:ext uri="{FF2B5EF4-FFF2-40B4-BE49-F238E27FC236}">
                <a16:creationId xmlns:a16="http://schemas.microsoft.com/office/drawing/2014/main" id="{A307473F-1A74-5C68-915A-FB44E78C8EA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324296" y="1595120"/>
            <a:ext cx="4333394" cy="2153920"/>
          </a:xfrm>
          <a:prstGeom prst="rect">
            <a:avLst/>
          </a:prstGeom>
          <a:effectLst>
            <a:outerShdw blurRad="114300" dist="38100" dir="5400000" algn="bl" rotWithShape="0">
              <a:srgbClr val="0E4C54">
                <a:alpha val="14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685800" y="868680"/>
            <a:ext cx="10817352" cy="822960"/>
          </a:xfrm>
          <a:prstGeom prst="rect">
            <a:avLst/>
          </a:prstGeom>
          <a:noFill/>
          <a:ln/>
        </p:spPr>
        <p:txBody>
          <a:bodyPr wrap="square" lIns="0" tIns="0" rIns="0" bIns="0" rtlCol="0" anchor="t"/>
          <a:lstStyle/>
          <a:p>
            <a:pPr marL="0" indent="0" algn="l">
              <a:buNone/>
            </a:pPr>
            <a:r>
              <a:rPr lang="ja-JP" altLang="en-US" sz="3000" b="1" u="sng" dirty="0">
                <a:solidFill>
                  <a:srgbClr val="1E2A2E"/>
                </a:solidFill>
                <a:latin typeface="Yu Gothic" pitchFamily="34" charset="0"/>
                <a:ea typeface="Yu Gothic" pitchFamily="34" charset="-122"/>
                <a:cs typeface="Yu Gothic" pitchFamily="34" charset="-120"/>
              </a:rPr>
              <a:t>FastMath におけるリファクタリング</a:t>
            </a:r>
            <a:endParaRPr lang="en-US" sz="3000" u="sng" dirty="0"/>
          </a:p>
        </p:txBody>
      </p:sp>
      <p:sp>
        <p:nvSpPr>
          <p:cNvPr id="102" name="t"/>
          <p:cNvSpPr/>
          <p:nvPr/>
        </p:nvSpPr>
        <p:spPr>
          <a:xfrm>
            <a:off x="978408" y="1645920"/>
            <a:ext cx="5486400" cy="365760"/>
          </a:xfrm>
          <a:prstGeom prst="rect">
            <a:avLst/>
          </a:prstGeom>
          <a:noFill/>
          <a:ln/>
        </p:spPr>
        <p:txBody>
          <a:bodyPr wrap="square" lIns="0" tIns="0" rIns="0" bIns="0" rtlCol="0" anchor="t"/>
          <a:lstStyle/>
          <a:p>
            <a:pPr marL="0" indent="0" algn="l">
              <a:buNone/>
            </a:pPr>
            <a:r>
              <a:rPr lang="ja-JP" altLang="en-US" sz="1500" b="1" dirty="0">
                <a:latin typeface="Yu Gothic" pitchFamily="34" charset="0"/>
                <a:ea typeface="Yu Gothic" pitchFamily="34" charset="-122"/>
                <a:cs typeface="Yu Gothic" pitchFamily="34" charset="-120"/>
              </a:rPr>
              <a:t>微修正が繰り返し行われて上限到達</a:t>
            </a:r>
          </a:p>
        </p:txBody>
      </p:sp>
      <p:pic>
        <p:nvPicPr>
          <p:cNvPr id="103" name="img" descr="img"/>
          <p:cNvPicPr>
            <a:picLocks noChangeAspect="1"/>
          </p:cNvPicPr>
          <p:nvPr/>
        </p:nvPicPr>
        <p:blipFill>
          <a:blip r:embed="rId2"/>
          <a:stretch>
            <a:fillRect/>
          </a:stretch>
        </p:blipFill>
        <p:spPr>
          <a:xfrm>
            <a:off x="5760720" y="1920240"/>
            <a:ext cx="5943600" cy="2954275"/>
          </a:xfrm>
          <a:prstGeom prst="rect">
            <a:avLst/>
          </a:prstGeom>
          <a:effectLst>
            <a:outerShdw blurRad="114300" dist="38100" dir="5400000" algn="bl" rotWithShape="0">
              <a:srgbClr val="0E4C54">
                <a:alpha val="14000"/>
              </a:srgbClr>
            </a:outerShdw>
          </a:effectLst>
        </p:spPr>
      </p:pic>
      <p:sp>
        <p:nvSpPr>
          <p:cNvPr id="104" name="t"/>
          <p:cNvSpPr/>
          <p:nvPr/>
        </p:nvSpPr>
        <p:spPr>
          <a:xfrm>
            <a:off x="5471299" y="5103115"/>
            <a:ext cx="5943600" cy="320040"/>
          </a:xfrm>
          <a:prstGeom prst="rect">
            <a:avLst/>
          </a:prstGeom>
          <a:noFill/>
          <a:ln/>
        </p:spPr>
        <p:txBody>
          <a:bodyPr wrap="square" lIns="0" tIns="0" rIns="0" bIns="0" rtlCol="0" anchor="ctr"/>
          <a:lstStyle/>
          <a:p>
            <a:pPr marL="0" indent="0" algn="ctr">
              <a:buNone/>
            </a:pPr>
            <a:r>
              <a:rPr lang="ja-JP" altLang="en-US" sz="1400" dirty="0">
                <a:latin typeface="Yu Gothic" pitchFamily="34" charset="0"/>
                <a:ea typeface="Yu Gothic" pitchFamily="34" charset="-122"/>
                <a:cs typeface="Yu Gothic" pitchFamily="34" charset="-120"/>
              </a:rPr>
              <a:t>リファクタリング手法の内訳（FastMath）</a:t>
            </a:r>
          </a:p>
        </p:txBody>
      </p:sp>
      <p:sp>
        <p:nvSpPr>
          <p:cNvPr id="106" name="t"/>
          <p:cNvSpPr/>
          <p:nvPr/>
        </p:nvSpPr>
        <p:spPr>
          <a:xfrm>
            <a:off x="978408" y="2847737"/>
            <a:ext cx="4160520" cy="365760"/>
          </a:xfrm>
          <a:prstGeom prst="rect">
            <a:avLst/>
          </a:prstGeom>
          <a:noFill/>
          <a:ln/>
        </p:spPr>
        <p:txBody>
          <a:bodyPr wrap="square" lIns="0" tIns="0" rIns="0" bIns="0" rtlCol="0" anchor="t"/>
          <a:lstStyle/>
          <a:p>
            <a:pPr marL="0" indent="0" algn="l">
              <a:buNone/>
            </a:pPr>
            <a:r>
              <a:rPr lang="ja-JP" altLang="en-US" sz="2000" b="1" dirty="0">
                <a:latin typeface="Yu Gothic" pitchFamily="34" charset="0"/>
                <a:ea typeface="Yu Gothic" pitchFamily="34" charset="-122"/>
                <a:cs typeface="Yu Gothic" pitchFamily="34" charset="-120"/>
              </a:rPr>
              <a:t>Add Variable Modifier</a:t>
            </a:r>
          </a:p>
        </p:txBody>
      </p:sp>
      <p:sp>
        <p:nvSpPr>
          <p:cNvPr id="107" name="t"/>
          <p:cNvSpPr/>
          <p:nvPr/>
        </p:nvSpPr>
        <p:spPr>
          <a:xfrm>
            <a:off x="978408" y="3129606"/>
            <a:ext cx="4709160" cy="2011680"/>
          </a:xfrm>
          <a:prstGeom prst="rect">
            <a:avLst/>
          </a:prstGeom>
          <a:noFill/>
          <a:ln/>
        </p:spPr>
        <p:txBody>
          <a:bodyPr wrap="square" lIns="0" tIns="0" rIns="0" bIns="0" rtlCol="0" anchor="t"/>
          <a:lstStyle/>
          <a:p>
            <a:pPr marL="0" indent="0" algn="l">
              <a:lnSpc>
                <a:spcPct val="120000"/>
              </a:lnSpc>
              <a:spcAft>
                <a:spcPts val="600"/>
              </a:spcAft>
              <a:buNone/>
            </a:pPr>
            <a:r>
              <a:rPr lang="ja-JP" altLang="en-US" sz="1500" dirty="0">
                <a:solidFill>
                  <a:srgbClr val="1E2A2E"/>
                </a:solidFill>
                <a:latin typeface="Yu Gothic" pitchFamily="34" charset="0"/>
                <a:ea typeface="Yu Gothic" pitchFamily="34" charset="-122"/>
                <a:cs typeface="Yu Gothic" pitchFamily="34" charset="-120"/>
              </a:rPr>
              <a:t>iter6≈19件 / iter10≈18件 / iter16≈21件 と塊で繰り返し出続ける</a:t>
            </a:r>
          </a:p>
          <a:p>
            <a:pPr marL="0" indent="0" algn="l">
              <a:lnSpc>
                <a:spcPct val="120000"/>
              </a:lnSpc>
              <a:buNone/>
            </a:pPr>
            <a:r>
              <a:rPr lang="ja-JP" altLang="en-US" sz="1500" dirty="0">
                <a:solidFill>
                  <a:srgbClr val="1E2A2E"/>
                </a:solidFill>
                <a:latin typeface="Yu Gothic" pitchFamily="34" charset="0"/>
                <a:ea typeface="Yu Gothic" pitchFamily="34" charset="-122"/>
                <a:cs typeface="Yu Gothic" pitchFamily="34" charset="-120"/>
              </a:rPr>
              <a:t>構造を変えない表面的な微修正のため、実質的なコードの改善手法が尽きても止まれず反復を埋めた</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02DA9AA-7E57-F016-3850-D43BD1FC118A}"/>
              </a:ext>
            </a:extLst>
          </p:cNvPr>
          <p:cNvSpPr/>
          <p:nvPr/>
        </p:nvSpPr>
        <p:spPr>
          <a:xfrm>
            <a:off x="685800" y="868680"/>
            <a:ext cx="10817352" cy="822960"/>
          </a:xfrm>
          <a:prstGeom prst="rect">
            <a:avLst/>
          </a:prstGeom>
          <a:noFill/>
          <a:ln/>
        </p:spPr>
        <p:txBody>
          <a:bodyPr wrap="square" lIns="0" tIns="0" rIns="0" bIns="0" rtlCol="0" anchor="t"/>
          <a:lstStyle/>
          <a:p>
            <a:pPr marL="0" indent="0" algn="l">
              <a:buNone/>
            </a:pPr>
            <a:r>
              <a:rPr lang="ja-JP" altLang="en-US" sz="3000" b="1" u="sng" dirty="0">
                <a:solidFill>
                  <a:srgbClr val="1E2A2E"/>
                </a:solidFill>
                <a:latin typeface="Yu Gothic" pitchFamily="34" charset="0"/>
                <a:ea typeface="Yu Gothic" pitchFamily="34" charset="-122"/>
                <a:cs typeface="Yu Gothic" pitchFamily="34" charset="-120"/>
              </a:rPr>
              <a:t>ソフトウェア品質は向上したか</a:t>
            </a:r>
            <a:endParaRPr lang="en-US" sz="3000" u="sng" dirty="0"/>
          </a:p>
        </p:txBody>
      </p:sp>
      <p:sp>
        <p:nvSpPr>
          <p:cNvPr id="5" name="t">
            <a:extLst>
              <a:ext uri="{FF2B5EF4-FFF2-40B4-BE49-F238E27FC236}">
                <a16:creationId xmlns:a16="http://schemas.microsoft.com/office/drawing/2014/main" id="{3301D3D5-A58C-D518-4C16-EF2C40502ED2}"/>
              </a:ext>
            </a:extLst>
          </p:cNvPr>
          <p:cNvSpPr/>
          <p:nvPr/>
        </p:nvSpPr>
        <p:spPr>
          <a:xfrm>
            <a:off x="978408" y="1645920"/>
            <a:ext cx="7315200" cy="365760"/>
          </a:xfrm>
          <a:prstGeom prst="rect">
            <a:avLst/>
          </a:prstGeom>
          <a:noFill/>
          <a:ln/>
        </p:spPr>
        <p:txBody>
          <a:bodyPr wrap="square" lIns="0" tIns="0" rIns="0" bIns="0" rtlCol="0" anchor="t"/>
          <a:lstStyle/>
          <a:p>
            <a:pPr marL="0" indent="0" algn="l">
              <a:buNone/>
            </a:pPr>
            <a:r>
              <a:rPr lang="ja-JP" altLang="en-US" sz="1500" b="1" dirty="0">
                <a:latin typeface="Yu Gothic" pitchFamily="34" charset="0"/>
                <a:ea typeface="Yu Gothic" pitchFamily="34" charset="-122"/>
                <a:cs typeface="Yu Gothic" pitchFamily="34" charset="-120"/>
              </a:rPr>
              <a:t>スメルはほぼ不変、コード規模はむしろ増加</a:t>
            </a:r>
          </a:p>
        </p:txBody>
      </p:sp>
      <p:pic>
        <p:nvPicPr>
          <p:cNvPr id="6" name="img" descr="img">
            <a:extLst>
              <a:ext uri="{FF2B5EF4-FFF2-40B4-BE49-F238E27FC236}">
                <a16:creationId xmlns:a16="http://schemas.microsoft.com/office/drawing/2014/main" id="{A3F1C1ED-1C1A-9D52-F28C-61855957F400}"/>
              </a:ext>
            </a:extLst>
          </p:cNvPr>
          <p:cNvPicPr>
            <a:picLocks noChangeAspect="1"/>
          </p:cNvPicPr>
          <p:nvPr/>
        </p:nvPicPr>
        <p:blipFill>
          <a:blip r:embed="rId2"/>
          <a:stretch>
            <a:fillRect/>
          </a:stretch>
        </p:blipFill>
        <p:spPr>
          <a:xfrm>
            <a:off x="810066" y="2452651"/>
            <a:ext cx="5212080" cy="2590672"/>
          </a:xfrm>
          <a:prstGeom prst="rect">
            <a:avLst/>
          </a:prstGeom>
          <a:effectLst>
            <a:outerShdw blurRad="114300" dist="38100" dir="5400000" algn="bl" rotWithShape="0">
              <a:srgbClr val="0E4C54">
                <a:alpha val="14000"/>
              </a:srgbClr>
            </a:outerShdw>
          </a:effectLst>
        </p:spPr>
      </p:pic>
      <p:pic>
        <p:nvPicPr>
          <p:cNvPr id="7" name="img" descr="img">
            <a:extLst>
              <a:ext uri="{FF2B5EF4-FFF2-40B4-BE49-F238E27FC236}">
                <a16:creationId xmlns:a16="http://schemas.microsoft.com/office/drawing/2014/main" id="{D665CAEF-20CF-6B4C-8C3A-1FC668AD256D}"/>
              </a:ext>
            </a:extLst>
          </p:cNvPr>
          <p:cNvPicPr>
            <a:picLocks noChangeAspect="1"/>
          </p:cNvPicPr>
          <p:nvPr/>
        </p:nvPicPr>
        <p:blipFill>
          <a:blip r:embed="rId3"/>
          <a:stretch>
            <a:fillRect/>
          </a:stretch>
        </p:blipFill>
        <p:spPr>
          <a:xfrm>
            <a:off x="6734492" y="2376387"/>
            <a:ext cx="4393769" cy="2743200"/>
          </a:xfrm>
          <a:prstGeom prst="rect">
            <a:avLst/>
          </a:prstGeom>
          <a:effectLst>
            <a:outerShdw blurRad="114300" dist="38100" dir="5400000" algn="bl" rotWithShape="0">
              <a:srgbClr val="0E4C54">
                <a:alpha val="14000"/>
              </a:srgbClr>
            </a:outerShdw>
          </a:effectLst>
        </p:spPr>
      </p:pic>
      <p:sp>
        <p:nvSpPr>
          <p:cNvPr id="8" name="t">
            <a:extLst>
              <a:ext uri="{FF2B5EF4-FFF2-40B4-BE49-F238E27FC236}">
                <a16:creationId xmlns:a16="http://schemas.microsoft.com/office/drawing/2014/main" id="{BFC1DCEB-3A7A-F884-32F7-AC3A107CF33F}"/>
              </a:ext>
            </a:extLst>
          </p:cNvPr>
          <p:cNvSpPr/>
          <p:nvPr/>
        </p:nvSpPr>
        <p:spPr>
          <a:xfrm>
            <a:off x="658368" y="5200449"/>
            <a:ext cx="5212080" cy="320040"/>
          </a:xfrm>
          <a:prstGeom prst="rect">
            <a:avLst/>
          </a:prstGeom>
          <a:noFill/>
          <a:ln/>
        </p:spPr>
        <p:txBody>
          <a:bodyPr wrap="square" lIns="0" tIns="0" rIns="0" bIns="0" rtlCol="0" anchor="ctr"/>
          <a:lstStyle/>
          <a:p>
            <a:pPr algn="ctr"/>
            <a:r>
              <a:rPr lang="ja-JP" altLang="en-US" sz="1100" dirty="0">
                <a:latin typeface="Yu Gothic" pitchFamily="34" charset="0"/>
                <a:ea typeface="Yu Gothic" pitchFamily="34" charset="-122"/>
                <a:cs typeface="Yu Gothic" pitchFamily="34" charset="-120"/>
              </a:rPr>
              <a:t>コードスメルは全期間ほぼ一定</a:t>
            </a:r>
            <a:r>
              <a:rPr lang="ja-JP" altLang="en-US" sz="1100" dirty="0">
                <a:solidFill>
                  <a:srgbClr val="1E2A2E"/>
                </a:solidFill>
                <a:latin typeface="Yu Gothic" pitchFamily="34" charset="0"/>
                <a:ea typeface="Yu Gothic" pitchFamily="34" charset="-122"/>
                <a:cs typeface="Yu Gothic" pitchFamily="34" charset="-120"/>
              </a:rPr>
              <a:t>（減少は Precision の1件のみ</a:t>
            </a:r>
            <a:endParaRPr lang="ja-JP" altLang="en-US" sz="1100" dirty="0">
              <a:latin typeface="Yu Gothic" pitchFamily="34" charset="0"/>
              <a:ea typeface="Yu Gothic" pitchFamily="34" charset="-122"/>
              <a:cs typeface="Yu Gothic" pitchFamily="34" charset="-120"/>
            </a:endParaRPr>
          </a:p>
        </p:txBody>
      </p:sp>
      <p:sp>
        <p:nvSpPr>
          <p:cNvPr id="9" name="t">
            <a:extLst>
              <a:ext uri="{FF2B5EF4-FFF2-40B4-BE49-F238E27FC236}">
                <a16:creationId xmlns:a16="http://schemas.microsoft.com/office/drawing/2014/main" id="{A933231E-1F94-141B-ED55-D9FC9867D5A9}"/>
              </a:ext>
            </a:extLst>
          </p:cNvPr>
          <p:cNvSpPr/>
          <p:nvPr/>
        </p:nvSpPr>
        <p:spPr>
          <a:xfrm>
            <a:off x="5989320" y="5217304"/>
            <a:ext cx="5212080" cy="320040"/>
          </a:xfrm>
          <a:prstGeom prst="rect">
            <a:avLst/>
          </a:prstGeom>
          <a:noFill/>
          <a:ln/>
        </p:spPr>
        <p:txBody>
          <a:bodyPr wrap="square" lIns="0" tIns="0" rIns="0" bIns="0" rtlCol="0" anchor="ctr"/>
          <a:lstStyle/>
          <a:p>
            <a:pPr marL="0" indent="0" algn="ctr">
              <a:buNone/>
            </a:pPr>
            <a:r>
              <a:rPr lang="ja-JP" altLang="en-US" sz="1100" dirty="0">
                <a:latin typeface="Yu Gothic" pitchFamily="34" charset="0"/>
                <a:ea typeface="Yu Gothic" pitchFamily="34" charset="-122"/>
                <a:cs typeface="Yu Gothic" pitchFamily="34" charset="-120"/>
              </a:rPr>
              <a:t>メトリクス変化（after − before）</a:t>
            </a:r>
          </a:p>
        </p:txBody>
      </p:sp>
    </p:spTree>
    <p:extLst>
      <p:ext uri="{BB962C8B-B14F-4D97-AF65-F5344CB8AC3E}">
        <p14:creationId xmlns:p14="http://schemas.microsoft.com/office/powerpoint/2010/main" val="1571809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72DB2B6-B370-A34A-4396-53F072A46B39}"/>
              </a:ext>
            </a:extLst>
          </p:cNvPr>
          <p:cNvSpPr>
            <a:spLocks noGrp="1"/>
          </p:cNvSpPr>
          <p:nvPr>
            <p:ph idx="1"/>
          </p:nvPr>
        </p:nvSpPr>
        <p:spPr>
          <a:xfrm>
            <a:off x="685800" y="1825625"/>
            <a:ext cx="10668000" cy="4351338"/>
          </a:xfrm>
        </p:spPr>
        <p:txBody>
          <a:bodyPr/>
          <a:lstStyle/>
          <a:p>
            <a:r>
              <a:rPr lang="ja-JP" altLang="en-US" dirty="0"/>
              <a:t>効果の頭打ち</a:t>
            </a:r>
            <a:endParaRPr lang="en-US" altLang="ja-JP" dirty="0"/>
          </a:p>
          <a:p>
            <a:pPr lvl="1"/>
            <a:r>
              <a:rPr lang="ja-JP" altLang="en-US" dirty="0"/>
              <a:t>序盤のメソッド抽出などの局所的な修正により機能的なまとまりを一部改善するが，改善効果は持続しない</a:t>
            </a:r>
            <a:endParaRPr kumimoji="1" lang="en-US" altLang="ja-JP" dirty="0"/>
          </a:p>
          <a:p>
            <a:r>
              <a:rPr kumimoji="1" lang="ja-JP" altLang="en-US" dirty="0"/>
              <a:t>反復によるコード肥大化</a:t>
            </a:r>
            <a:endParaRPr kumimoji="1" lang="en-US" altLang="ja-JP" dirty="0"/>
          </a:p>
          <a:p>
            <a:pPr lvl="1"/>
            <a:r>
              <a:rPr lang="ja-JP" altLang="ja-JP" dirty="0"/>
              <a:t>反復回数の増加は品質向上に直結せず</a:t>
            </a:r>
            <a:r>
              <a:rPr lang="ja-JP" altLang="en-US" dirty="0"/>
              <a:t>，</a:t>
            </a:r>
            <a:r>
              <a:rPr lang="ja-JP" altLang="ja-JP" dirty="0"/>
              <a:t>冗長な修正の連続によってコード規模のみを増加させる</a:t>
            </a:r>
            <a:endParaRPr lang="en-US" altLang="ja-JP" dirty="0"/>
          </a:p>
          <a:p>
            <a:pPr lvl="1"/>
            <a:endParaRPr lang="en-US" altLang="ja-JP" dirty="0"/>
          </a:p>
          <a:p>
            <a:pPr>
              <a:buFont typeface="Wingdings" panose="05000000000000000000" pitchFamily="2" charset="2"/>
              <a:buChar char="Ø"/>
            </a:pPr>
            <a:r>
              <a:rPr lang="ja-JP" altLang="ja-JP" dirty="0"/>
              <a:t>終了条件なき</a:t>
            </a:r>
            <a:r>
              <a:rPr lang="ja-JP" altLang="ja-JP"/>
              <a:t>反復は</a:t>
            </a:r>
            <a:r>
              <a:rPr lang="ja-JP" altLang="en-US"/>
              <a:t>，</a:t>
            </a:r>
            <a:r>
              <a:rPr lang="ja-JP" altLang="ja-JP"/>
              <a:t>設計</a:t>
            </a:r>
            <a:r>
              <a:rPr lang="ja-JP" altLang="ja-JP" dirty="0"/>
              <a:t>改善を果たせずコード規模と複雑度のみを</a:t>
            </a:r>
            <a:r>
              <a:rPr lang="ja-JP" altLang="ja-JP"/>
              <a:t>増大させる</a:t>
            </a:r>
            <a:endParaRPr lang="en-US" altLang="ja-JP" dirty="0"/>
          </a:p>
          <a:p>
            <a:pPr lvl="1"/>
            <a:endParaRPr lang="en-US" altLang="ja-JP" dirty="0"/>
          </a:p>
          <a:p>
            <a:endParaRPr lang="en-US" altLang="ja-JP" dirty="0"/>
          </a:p>
        </p:txBody>
      </p:sp>
      <p:sp>
        <p:nvSpPr>
          <p:cNvPr id="142" name="title"/>
          <p:cNvSpPr/>
          <p:nvPr/>
        </p:nvSpPr>
        <p:spPr>
          <a:xfrm>
            <a:off x="685800" y="868680"/>
            <a:ext cx="10817352" cy="822960"/>
          </a:xfrm>
          <a:prstGeom prst="rect">
            <a:avLst/>
          </a:prstGeom>
          <a:noFill/>
          <a:ln/>
        </p:spPr>
        <p:txBody>
          <a:bodyPr wrap="square" lIns="0" tIns="0" rIns="0" bIns="0" rtlCol="0" anchor="t"/>
          <a:lstStyle/>
          <a:p>
            <a:pPr marL="0" indent="0" algn="l">
              <a:buNone/>
            </a:pPr>
            <a:r>
              <a:rPr lang="ja-JP" altLang="en-US" sz="3000" b="1" u="sng" dirty="0">
                <a:solidFill>
                  <a:srgbClr val="1E2A2E"/>
                </a:solidFill>
                <a:latin typeface="Yu Gothic" pitchFamily="34" charset="0"/>
                <a:ea typeface="Yu Gothic" pitchFamily="34" charset="-122"/>
                <a:cs typeface="Yu Gothic" pitchFamily="34" charset="-120"/>
              </a:rPr>
              <a:t>結論：</a:t>
            </a:r>
            <a:r>
              <a:rPr lang="en-US" altLang="ja-JP" sz="3000" b="1" u="sng" dirty="0">
                <a:solidFill>
                  <a:srgbClr val="1E2A2E"/>
                </a:solidFill>
                <a:latin typeface="Yu Gothic" pitchFamily="34" charset="0"/>
                <a:ea typeface="Yu Gothic" pitchFamily="34" charset="-122"/>
                <a:cs typeface="Yu Gothic" pitchFamily="34" charset="-120"/>
              </a:rPr>
              <a:t>AI</a:t>
            </a:r>
            <a:r>
              <a:rPr lang="ja-JP" altLang="en-US" sz="3000" b="1" u="sng" dirty="0">
                <a:solidFill>
                  <a:srgbClr val="1E2A2E"/>
                </a:solidFill>
                <a:latin typeface="Yu Gothic" pitchFamily="34" charset="0"/>
                <a:ea typeface="Yu Gothic" pitchFamily="34" charset="-122"/>
                <a:cs typeface="Yu Gothic" pitchFamily="34" charset="-120"/>
              </a:rPr>
              <a:t>に任せきりにしない</a:t>
            </a:r>
            <a:endParaRPr lang="en-US" sz="3000" u="sng" dirty="0"/>
          </a:p>
        </p:txBody>
      </p:sp>
    </p:spTree>
    <p:extLst>
      <p:ext uri="{BB962C8B-B14F-4D97-AF65-F5344CB8AC3E}">
        <p14:creationId xmlns:p14="http://schemas.microsoft.com/office/powerpoint/2010/main" val="1242358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 name="r"/>
          <p:cNvSpPr/>
          <p:nvPr/>
        </p:nvSpPr>
        <p:spPr>
          <a:xfrm>
            <a:off x="658368" y="1737360"/>
            <a:ext cx="10817352" cy="1188720"/>
          </a:xfrm>
          <a:prstGeom prst="rect">
            <a:avLst/>
          </a:prstGeom>
          <a:solidFill>
            <a:srgbClr val="F2F7F8"/>
          </a:solidFill>
          <a:ln w="12700">
            <a:solidFill>
              <a:srgbClr val="D8E2E4"/>
            </a:solidFill>
            <a:prstDash val="solid"/>
          </a:ln>
        </p:spPr>
        <p:txBody>
          <a:bodyPr rtlCol="0" anchor="ctr"/>
          <a:lstStyle/>
          <a:p>
            <a:pPr algn="ctr"/>
            <a:endParaRPr lang="ja-JP" altLang="en-US"/>
          </a:p>
        </p:txBody>
      </p:sp>
      <p:sp>
        <p:nvSpPr>
          <p:cNvPr id="144" name="t"/>
          <p:cNvSpPr/>
          <p:nvPr/>
        </p:nvSpPr>
        <p:spPr>
          <a:xfrm>
            <a:off x="960120" y="1920240"/>
            <a:ext cx="10241280" cy="914400"/>
          </a:xfrm>
          <a:prstGeom prst="rect">
            <a:avLst/>
          </a:prstGeom>
          <a:noFill/>
          <a:ln/>
        </p:spPr>
        <p:txBody>
          <a:bodyPr wrap="square" lIns="0" tIns="0" rIns="0" bIns="0" rtlCol="0" anchor="t"/>
          <a:lstStyle/>
          <a:p>
            <a:pPr marL="0" indent="0" algn="l">
              <a:lnSpc>
                <a:spcPct val="120000"/>
              </a:lnSpc>
              <a:buNone/>
            </a:pPr>
            <a:r>
              <a:rPr lang="ja-JP" altLang="en-US" sz="1500" b="1" dirty="0">
                <a:solidFill>
                  <a:srgbClr val="1E2A2E"/>
                </a:solidFill>
                <a:latin typeface="Yu Gothic" pitchFamily="34" charset="0"/>
                <a:ea typeface="Yu Gothic" pitchFamily="34" charset="-122"/>
                <a:cs typeface="Yu Gothic" pitchFamily="34" charset="-120"/>
              </a:rPr>
              <a:t>反復リファクタリングは序盤にメソッド抽出中心の局所整形で凝集性などを一部改善するが、効果は早期に頭打ちになり、設計レベルのスメルはほぼ解消されないままコード規模だけが増加する。</a:t>
            </a:r>
          </a:p>
        </p:txBody>
      </p:sp>
      <p:sp>
        <p:nvSpPr>
          <p:cNvPr id="145" name="r"/>
          <p:cNvSpPr/>
          <p:nvPr/>
        </p:nvSpPr>
        <p:spPr>
          <a:xfrm>
            <a:off x="658368" y="3246120"/>
            <a:ext cx="3456432" cy="1508760"/>
          </a:xfrm>
          <a:prstGeom prst="rect">
            <a:avLst/>
          </a:prstGeom>
          <a:solidFill>
            <a:srgbClr val="0E4C54"/>
          </a:solidFill>
          <a:ln/>
        </p:spPr>
        <p:txBody>
          <a:bodyPr rtlCol="0" anchor="ctr"/>
          <a:lstStyle/>
          <a:p>
            <a:pPr algn="ctr"/>
            <a:endParaRPr lang="ja-JP" altLang="en-US"/>
          </a:p>
        </p:txBody>
      </p:sp>
      <p:sp>
        <p:nvSpPr>
          <p:cNvPr id="146" name="t"/>
          <p:cNvSpPr/>
          <p:nvPr/>
        </p:nvSpPr>
        <p:spPr>
          <a:xfrm>
            <a:off x="914400" y="3483864"/>
            <a:ext cx="2944368" cy="457200"/>
          </a:xfrm>
          <a:prstGeom prst="rect">
            <a:avLst/>
          </a:prstGeom>
          <a:noFill/>
          <a:ln/>
        </p:spPr>
        <p:txBody>
          <a:bodyPr wrap="square" lIns="0" tIns="0" rIns="0" bIns="0" rtlCol="0" anchor="t"/>
          <a:lstStyle/>
          <a:p>
            <a:pPr marL="0" indent="0" algn="l">
              <a:buNone/>
            </a:pPr>
            <a:r>
              <a:rPr lang="ja-JP" altLang="en-US" sz="1700" b="1" dirty="0">
                <a:solidFill>
                  <a:srgbClr val="FFFFFF"/>
                </a:solidFill>
                <a:latin typeface="Yu Gothic" pitchFamily="34" charset="0"/>
                <a:ea typeface="Yu Gothic" pitchFamily="34" charset="-122"/>
                <a:cs typeface="Yu Gothic" pitchFamily="34" charset="-120"/>
              </a:rPr>
              <a:t>反復 ≠ 改善</a:t>
            </a:r>
          </a:p>
        </p:txBody>
      </p:sp>
      <p:sp>
        <p:nvSpPr>
          <p:cNvPr id="147" name="t"/>
          <p:cNvSpPr/>
          <p:nvPr/>
        </p:nvSpPr>
        <p:spPr>
          <a:xfrm>
            <a:off x="914400" y="4014216"/>
            <a:ext cx="2944368" cy="640080"/>
          </a:xfrm>
          <a:prstGeom prst="rect">
            <a:avLst/>
          </a:prstGeom>
          <a:noFill/>
          <a:ln/>
        </p:spPr>
        <p:txBody>
          <a:bodyPr wrap="square" lIns="0" tIns="0" rIns="0" bIns="0" rtlCol="0" anchor="t"/>
          <a:lstStyle/>
          <a:p>
            <a:pPr marL="0" indent="0" algn="l">
              <a:lnSpc>
                <a:spcPct val="112000"/>
              </a:lnSpc>
              <a:buNone/>
            </a:pPr>
            <a:r>
              <a:rPr lang="ja-JP" altLang="en-US" sz="1250" dirty="0">
                <a:solidFill>
                  <a:srgbClr val="E7F1F2"/>
                </a:solidFill>
                <a:latin typeface="Yu Gothic" pitchFamily="34" charset="0"/>
                <a:ea typeface="Yu Gothic" pitchFamily="34" charset="-122"/>
                <a:cs typeface="Yu Gothic" pitchFamily="34" charset="-120"/>
              </a:rPr>
              <a:t>反復回数を増やしても品質向上に直結しない</a:t>
            </a:r>
          </a:p>
        </p:txBody>
      </p:sp>
      <p:sp>
        <p:nvSpPr>
          <p:cNvPr id="148" name="r"/>
          <p:cNvSpPr/>
          <p:nvPr/>
        </p:nvSpPr>
        <p:spPr>
          <a:xfrm>
            <a:off x="4389120" y="3246120"/>
            <a:ext cx="3456432" cy="1508760"/>
          </a:xfrm>
          <a:prstGeom prst="rect">
            <a:avLst/>
          </a:prstGeom>
          <a:solidFill>
            <a:srgbClr val="0E4C54"/>
          </a:solidFill>
          <a:ln/>
        </p:spPr>
        <p:txBody>
          <a:bodyPr rtlCol="0" anchor="ctr"/>
          <a:lstStyle/>
          <a:p>
            <a:pPr algn="ctr"/>
            <a:endParaRPr lang="ja-JP" altLang="en-US"/>
          </a:p>
        </p:txBody>
      </p:sp>
      <p:sp>
        <p:nvSpPr>
          <p:cNvPr id="149" name="t"/>
          <p:cNvSpPr/>
          <p:nvPr/>
        </p:nvSpPr>
        <p:spPr>
          <a:xfrm>
            <a:off x="4645152" y="3483864"/>
            <a:ext cx="2944368" cy="457200"/>
          </a:xfrm>
          <a:prstGeom prst="rect">
            <a:avLst/>
          </a:prstGeom>
          <a:noFill/>
          <a:ln/>
        </p:spPr>
        <p:txBody>
          <a:bodyPr wrap="square" lIns="0" tIns="0" rIns="0" bIns="0" rtlCol="0" anchor="t"/>
          <a:lstStyle/>
          <a:p>
            <a:pPr marL="0" indent="0" algn="l">
              <a:buNone/>
            </a:pPr>
            <a:r>
              <a:rPr lang="ja-JP" altLang="en-US" sz="1700" b="1" dirty="0">
                <a:solidFill>
                  <a:srgbClr val="FFFFFF"/>
                </a:solidFill>
                <a:latin typeface="Yu Gothic" pitchFamily="34" charset="0"/>
                <a:ea typeface="Yu Gothic" pitchFamily="34" charset="-122"/>
                <a:cs typeface="Yu Gothic" pitchFamily="34" charset="-120"/>
              </a:rPr>
              <a:t>大規模の罠</a:t>
            </a:r>
          </a:p>
        </p:txBody>
      </p:sp>
      <p:sp>
        <p:nvSpPr>
          <p:cNvPr id="150" name="t"/>
          <p:cNvSpPr/>
          <p:nvPr/>
        </p:nvSpPr>
        <p:spPr>
          <a:xfrm>
            <a:off x="4645152" y="4014216"/>
            <a:ext cx="2944368" cy="640080"/>
          </a:xfrm>
          <a:prstGeom prst="rect">
            <a:avLst/>
          </a:prstGeom>
          <a:noFill/>
          <a:ln/>
        </p:spPr>
        <p:txBody>
          <a:bodyPr wrap="square" lIns="0" tIns="0" rIns="0" bIns="0" rtlCol="0" anchor="t"/>
          <a:lstStyle/>
          <a:p>
            <a:pPr marL="0" indent="0" algn="l">
              <a:lnSpc>
                <a:spcPct val="112000"/>
              </a:lnSpc>
              <a:buNone/>
            </a:pPr>
            <a:r>
              <a:rPr lang="ja-JP" altLang="en-US" sz="1250" dirty="0">
                <a:solidFill>
                  <a:srgbClr val="E7F1F2"/>
                </a:solidFill>
                <a:latin typeface="Yu Gothic" pitchFamily="34" charset="0"/>
                <a:ea typeface="Yu Gothic" pitchFamily="34" charset="-122"/>
                <a:cs typeface="Yu Gothic" pitchFamily="34" charset="-120"/>
              </a:rPr>
              <a:t>複雑なクラスは収束せず、冗長化・空回りのリスク</a:t>
            </a:r>
          </a:p>
        </p:txBody>
      </p:sp>
      <p:sp>
        <p:nvSpPr>
          <p:cNvPr id="151" name="r"/>
          <p:cNvSpPr/>
          <p:nvPr/>
        </p:nvSpPr>
        <p:spPr>
          <a:xfrm>
            <a:off x="8119872" y="3246120"/>
            <a:ext cx="3456432" cy="1508760"/>
          </a:xfrm>
          <a:prstGeom prst="rect">
            <a:avLst/>
          </a:prstGeom>
          <a:solidFill>
            <a:srgbClr val="0E4C54"/>
          </a:solidFill>
          <a:ln/>
        </p:spPr>
        <p:txBody>
          <a:bodyPr rtlCol="0" anchor="ctr"/>
          <a:lstStyle/>
          <a:p>
            <a:pPr algn="ctr"/>
            <a:endParaRPr lang="ja-JP" altLang="en-US"/>
          </a:p>
        </p:txBody>
      </p:sp>
      <p:sp>
        <p:nvSpPr>
          <p:cNvPr id="152" name="t"/>
          <p:cNvSpPr/>
          <p:nvPr/>
        </p:nvSpPr>
        <p:spPr>
          <a:xfrm>
            <a:off x="8375904" y="3483864"/>
            <a:ext cx="2944368" cy="457200"/>
          </a:xfrm>
          <a:prstGeom prst="rect">
            <a:avLst/>
          </a:prstGeom>
          <a:noFill/>
          <a:ln/>
        </p:spPr>
        <p:txBody>
          <a:bodyPr wrap="square" lIns="0" tIns="0" rIns="0" bIns="0" rtlCol="0" anchor="t"/>
          <a:lstStyle/>
          <a:p>
            <a:pPr marL="0" indent="0" algn="l">
              <a:buNone/>
            </a:pPr>
            <a:r>
              <a:rPr lang="ja-JP" altLang="en-US" sz="1700" b="1" dirty="0">
                <a:solidFill>
                  <a:srgbClr val="FFFFFF"/>
                </a:solidFill>
                <a:latin typeface="Yu Gothic" pitchFamily="34" charset="0"/>
                <a:ea typeface="Yu Gothic" pitchFamily="34" charset="-122"/>
                <a:cs typeface="Yu Gothic" pitchFamily="34" charset="-120"/>
              </a:rPr>
              <a:t>設計には不十分</a:t>
            </a:r>
          </a:p>
        </p:txBody>
      </p:sp>
      <p:sp>
        <p:nvSpPr>
          <p:cNvPr id="153" name="t"/>
          <p:cNvSpPr/>
          <p:nvPr/>
        </p:nvSpPr>
        <p:spPr>
          <a:xfrm>
            <a:off x="8375904" y="4014216"/>
            <a:ext cx="2944368" cy="640080"/>
          </a:xfrm>
          <a:prstGeom prst="rect">
            <a:avLst/>
          </a:prstGeom>
          <a:noFill/>
          <a:ln/>
        </p:spPr>
        <p:txBody>
          <a:bodyPr wrap="square" lIns="0" tIns="0" rIns="0" bIns="0" rtlCol="0" anchor="t"/>
          <a:lstStyle/>
          <a:p>
            <a:pPr marL="0" indent="0" algn="l">
              <a:lnSpc>
                <a:spcPct val="112000"/>
              </a:lnSpc>
              <a:buNone/>
            </a:pPr>
            <a:r>
              <a:rPr lang="ja-JP" altLang="en-US" sz="1250" dirty="0">
                <a:solidFill>
                  <a:srgbClr val="E7F1F2"/>
                </a:solidFill>
                <a:latin typeface="Yu Gothic" pitchFamily="34" charset="0"/>
                <a:ea typeface="Yu Gothic" pitchFamily="34" charset="-122"/>
                <a:cs typeface="Yu Gothic" pitchFamily="34" charset="-120"/>
              </a:rPr>
              <a:t>スメル解消には現状のエージェント反復だけでは足りない</a:t>
            </a:r>
          </a:p>
        </p:txBody>
      </p:sp>
      <p:sp>
        <p:nvSpPr>
          <p:cNvPr id="154" name="t"/>
          <p:cNvSpPr/>
          <p:nvPr/>
        </p:nvSpPr>
        <p:spPr>
          <a:xfrm>
            <a:off x="658368" y="5074920"/>
            <a:ext cx="4572000" cy="320040"/>
          </a:xfrm>
          <a:prstGeom prst="rect">
            <a:avLst/>
          </a:prstGeom>
          <a:noFill/>
          <a:ln/>
        </p:spPr>
        <p:txBody>
          <a:bodyPr wrap="square" lIns="0" tIns="0" rIns="0" bIns="0" rtlCol="0" anchor="t"/>
          <a:lstStyle/>
          <a:p>
            <a:pPr marL="0" indent="0" algn="l">
              <a:buNone/>
            </a:pPr>
            <a:r>
              <a:rPr lang="ja-JP" altLang="en-US" sz="1500" b="1" dirty="0">
                <a:solidFill>
                  <a:srgbClr val="117A8B"/>
                </a:solidFill>
                <a:latin typeface="Yu Gothic" pitchFamily="34" charset="0"/>
                <a:ea typeface="Yu Gothic" pitchFamily="34" charset="-122"/>
                <a:cs typeface="Yu Gothic" pitchFamily="34" charset="-120"/>
              </a:rPr>
              <a:t>今後の課題</a:t>
            </a:r>
          </a:p>
        </p:txBody>
      </p:sp>
      <p:sp>
        <p:nvSpPr>
          <p:cNvPr id="155" name="t"/>
          <p:cNvSpPr/>
          <p:nvPr/>
        </p:nvSpPr>
        <p:spPr>
          <a:xfrm>
            <a:off x="658368" y="5440680"/>
            <a:ext cx="10817352" cy="1188720"/>
          </a:xfrm>
          <a:prstGeom prst="rect">
            <a:avLst/>
          </a:prstGeom>
          <a:noFill/>
          <a:ln/>
        </p:spPr>
        <p:txBody>
          <a:bodyPr wrap="square" lIns="0" tIns="0" rIns="0" bIns="0" rtlCol="0" anchor="t"/>
          <a:lstStyle/>
          <a:p>
            <a:pPr marL="0" indent="0" algn="l">
              <a:lnSpc>
                <a:spcPct val="125000"/>
              </a:lnSpc>
              <a:buNone/>
            </a:pPr>
            <a:r>
              <a:rPr lang="ja-JP" altLang="en-US" sz="1350" dirty="0">
                <a:solidFill>
                  <a:srgbClr val="1E2A2E"/>
                </a:solidFill>
                <a:latin typeface="Yu Gothic" pitchFamily="34" charset="0"/>
                <a:ea typeface="Yu Gothic" pitchFamily="34" charset="-122"/>
                <a:cs typeface="Yu Gothic" pitchFamily="34" charset="-120"/>
              </a:rPr>
              <a:t>・ Codex 環境を修正してエージェント間比較を完成</a:t>
            </a:r>
          </a:p>
          <a:p>
            <a:pPr marL="0" indent="0" algn="l">
              <a:lnSpc>
                <a:spcPct val="125000"/>
              </a:lnSpc>
              <a:buNone/>
            </a:pPr>
            <a:r>
              <a:rPr lang="ja-JP" altLang="en-US" sz="1350" dirty="0">
                <a:solidFill>
                  <a:srgbClr val="1E2A2E"/>
                </a:solidFill>
                <a:latin typeface="Yu Gothic" pitchFamily="34" charset="0"/>
                <a:ea typeface="Yu Gothic" pitchFamily="34" charset="-122"/>
                <a:cs typeface="Yu Gothic" pitchFamily="34" charset="-120"/>
              </a:rPr>
              <a:t>・ 対象クラス・エージェントの拡張で一般性を確認</a:t>
            </a:r>
          </a:p>
          <a:p>
            <a:pPr marL="0" indent="0" algn="l">
              <a:lnSpc>
                <a:spcPct val="125000"/>
              </a:lnSpc>
              <a:buNone/>
            </a:pPr>
            <a:r>
              <a:rPr lang="ja-JP" altLang="en-US" sz="1350" dirty="0">
                <a:solidFill>
                  <a:srgbClr val="1E2A2E"/>
                </a:solidFill>
                <a:latin typeface="Yu Gothic" pitchFamily="34" charset="0"/>
                <a:ea typeface="Yu Gothic" pitchFamily="34" charset="-122"/>
                <a:cs typeface="Yu Gothic" pitchFamily="34" charset="-120"/>
              </a:rPr>
              <a:t>・ 設計レベルのスメルに踏み込ませるプロンプト／手法の検討</a:t>
            </a:r>
          </a:p>
        </p:txBody>
      </p:sp>
    </p:spTree>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1222</TotalTime>
  <Words>531</Words>
  <Application>Microsoft Office PowerPoint</Application>
  <PresentationFormat>ワイド画面</PresentationFormat>
  <Paragraphs>85</Paragraphs>
  <Slides>11</Slides>
  <Notes>7</Notes>
  <HiddenSlides>1</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11</vt:i4>
      </vt:variant>
    </vt:vector>
  </HeadingPairs>
  <TitlesOfParts>
    <vt:vector size="18" baseType="lpstr">
      <vt:lpstr>游ゴシック</vt:lpstr>
      <vt:lpstr>游ゴシック</vt:lpstr>
      <vt:lpstr>Arial</vt:lpstr>
      <vt:lpstr>Calibri</vt:lpstr>
      <vt:lpstr>Calibri Light</vt:lpstr>
      <vt:lpstr>Wingdings</vt:lpstr>
      <vt:lpstr>Office 2013 - 2022 テーマ</vt:lpstr>
      <vt:lpstr>インターンシップ報告</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敏岳 荒生</dc:creator>
  <cp:lastModifiedBy>敏岳 荒生</cp:lastModifiedBy>
  <cp:revision>3</cp:revision>
  <dcterms:created xsi:type="dcterms:W3CDTF">2026-05-21T08:31:26Z</dcterms:created>
  <dcterms:modified xsi:type="dcterms:W3CDTF">2026-05-22T04:57:13Z</dcterms:modified>
</cp:coreProperties>
</file>